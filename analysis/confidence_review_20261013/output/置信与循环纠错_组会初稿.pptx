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759e716b444e7" /><Relationship Type="http://schemas.openxmlformats.org/officeDocument/2006/relationships/extended-properties" Target="/docProps/app.xml" Id="R4a4133c0b7584e6e" /><Relationship Type="http://schemas.openxmlformats.org/officeDocument/2006/relationships/officeDocument" Target="/ppt/presentation.xml" Id="Rccda4e8428db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73ac3500834c81"/>
  </p:sldMasterIdLst>
  <p:notesMasterIdLst>
    <p:notesMasterId xmlns:r="http://schemas.openxmlformats.org/officeDocument/2006/relationships" r:id="R20a1a8988d9049b8"/>
  </p:notesMasterIdLst>
  <p:sldIdLst>
    <p:sldId xmlns:r="http://schemas.openxmlformats.org/officeDocument/2006/relationships" id="256" r:id="R9ba854881b554c9e"/>
    <p:sldId xmlns:r="http://schemas.openxmlformats.org/officeDocument/2006/relationships" id="257" r:id="R4b6ae244b92a4111"/>
    <p:sldId xmlns:r="http://schemas.openxmlformats.org/officeDocument/2006/relationships" id="258" r:id="R44217e597f254128"/>
    <p:sldId xmlns:r="http://schemas.openxmlformats.org/officeDocument/2006/relationships" id="259" r:id="Redb5ebc3ba05487e"/>
    <p:sldId xmlns:r="http://schemas.openxmlformats.org/officeDocument/2006/relationships" id="260" r:id="Ra6cdacf561eb42d3"/>
    <p:sldId xmlns:r="http://schemas.openxmlformats.org/officeDocument/2006/relationships" id="261" r:id="R0761d0913b364a43"/>
    <p:sldId xmlns:r="http://schemas.openxmlformats.org/officeDocument/2006/relationships" id="262" r:id="R17be6d0db9c94440"/>
    <p:sldId xmlns:r="http://schemas.openxmlformats.org/officeDocument/2006/relationships" id="263" r:id="Re9aa0dc5df094d2b"/>
    <p:sldId xmlns:r="http://schemas.openxmlformats.org/officeDocument/2006/relationships" id="264" r:id="R64568795e9864723"/>
    <p:sldId xmlns:r="http://schemas.openxmlformats.org/officeDocument/2006/relationships" id="265" r:id="Rc846beb1a8e04192"/>
    <p:sldId xmlns:r="http://schemas.openxmlformats.org/officeDocument/2006/relationships" id="266" r:id="R6ffef9cf32f44fcd"/>
    <p:sldId xmlns:r="http://schemas.openxmlformats.org/officeDocument/2006/relationships" id="267" r:id="R765b3c1b13584231"/>
    <p:sldId xmlns:r="http://schemas.openxmlformats.org/officeDocument/2006/relationships" id="268" r:id="Rb203863d0b31418d"/>
    <p:sldId xmlns:r="http://schemas.openxmlformats.org/officeDocument/2006/relationships" id="269" r:id="Rbd7169c3566f4cc4"/>
    <p:sldId xmlns:r="http://schemas.openxmlformats.org/officeDocument/2006/relationships" id="270" r:id="R14ef9a66684a4b27"/>
    <p:sldId xmlns:r="http://schemas.openxmlformats.org/officeDocument/2006/relationships" id="271" r:id="Rec5146e9271c42a7"/>
    <p:sldId xmlns:r="http://schemas.openxmlformats.org/officeDocument/2006/relationships" id="272" r:id="R84f9bad898ad4587"/>
    <p:sldId xmlns:r="http://schemas.openxmlformats.org/officeDocument/2006/relationships" id="273" r:id="R17d0b508f56a45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236ba5e2d94ad7" /><Relationship Type="http://schemas.openxmlformats.org/officeDocument/2006/relationships/slideMaster" Target="/ppt/slideMasters/slideMaster1.xml" Id="R3273ac3500834c81" /><Relationship Type="http://schemas.openxmlformats.org/officeDocument/2006/relationships/notesMaster" Target="/ppt/notesMasters/notesMaster1.xml" Id="R20a1a8988d9049b8" /><Relationship Type="http://schemas.openxmlformats.org/officeDocument/2006/relationships/presProps" Target="/ppt/presProps.xml" Id="Reb6aa7fa635b4ca1" /><Relationship Type="http://schemas.openxmlformats.org/officeDocument/2006/relationships/tableStyles" Target="/ppt/tableStyles.xml" Id="R3d36678c6a4440c0" /><Relationship Type="http://schemas.openxmlformats.org/officeDocument/2006/relationships/slide" Target="/ppt/slides/slide1.xml" Id="R9ba854881b554c9e" /><Relationship Type="http://schemas.openxmlformats.org/officeDocument/2006/relationships/slide" Target="/ppt/slides/slide2.xml" Id="R4b6ae244b92a4111" /><Relationship Type="http://schemas.openxmlformats.org/officeDocument/2006/relationships/slide" Target="/ppt/slides/slide3.xml" Id="R44217e597f254128" /><Relationship Type="http://schemas.openxmlformats.org/officeDocument/2006/relationships/slide" Target="/ppt/slides/slide4.xml" Id="Redb5ebc3ba05487e" /><Relationship Type="http://schemas.openxmlformats.org/officeDocument/2006/relationships/slide" Target="/ppt/slides/slide5.xml" Id="Ra6cdacf561eb42d3" /><Relationship Type="http://schemas.openxmlformats.org/officeDocument/2006/relationships/slide" Target="/ppt/slides/slide6.xml" Id="R0761d0913b364a43" /><Relationship Type="http://schemas.openxmlformats.org/officeDocument/2006/relationships/slide" Target="/ppt/slides/slide7.xml" Id="R17be6d0db9c94440" /><Relationship Type="http://schemas.openxmlformats.org/officeDocument/2006/relationships/slide" Target="/ppt/slides/slide8.xml" Id="Re9aa0dc5df094d2b" /><Relationship Type="http://schemas.openxmlformats.org/officeDocument/2006/relationships/slide" Target="/ppt/slides/slide9.xml" Id="R64568795e9864723" /><Relationship Type="http://schemas.openxmlformats.org/officeDocument/2006/relationships/slide" Target="/ppt/slides/slide10.xml" Id="Rc846beb1a8e04192" /><Relationship Type="http://schemas.openxmlformats.org/officeDocument/2006/relationships/slide" Target="/ppt/slides/slide11.xml" Id="R6ffef9cf32f44fcd" /><Relationship Type="http://schemas.openxmlformats.org/officeDocument/2006/relationships/slide" Target="/ppt/slides/slide12.xml" Id="R765b3c1b13584231" /><Relationship Type="http://schemas.openxmlformats.org/officeDocument/2006/relationships/slide" Target="/ppt/slides/slide13.xml" Id="Rb203863d0b31418d" /><Relationship Type="http://schemas.openxmlformats.org/officeDocument/2006/relationships/slide" Target="/ppt/slides/slide14.xml" Id="Rbd7169c3566f4cc4" /><Relationship Type="http://schemas.openxmlformats.org/officeDocument/2006/relationships/slide" Target="/ppt/slides/slide15.xml" Id="R14ef9a66684a4b27" /><Relationship Type="http://schemas.openxmlformats.org/officeDocument/2006/relationships/slide" Target="/ppt/slides/slide16.xml" Id="Rec5146e9271c42a7" /><Relationship Type="http://schemas.openxmlformats.org/officeDocument/2006/relationships/slide" Target="/ppt/slides/slide17.xml" Id="R84f9bad898ad4587" /><Relationship Type="http://schemas.openxmlformats.org/officeDocument/2006/relationships/slide" Target="/ppt/slides/slide18.xml" Id="R17d0b508f56a45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ef81d65aac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8b3eabbd194247" /><Relationship Type="http://schemas.openxmlformats.org/officeDocument/2006/relationships/notesMaster" Target="/ppt/notesMasters/notesMaster1.xml" Id="R2d6921e260e443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bf152259a54b43" /><Relationship Type="http://schemas.openxmlformats.org/officeDocument/2006/relationships/notesMaster" Target="/ppt/notesMasters/notesMaster1.xml" Id="R136143957e83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11b24f8c4c4c11" /><Relationship Type="http://schemas.openxmlformats.org/officeDocument/2006/relationships/notesMaster" Target="/ppt/notesMasters/notesMaster1.xml" Id="Ra6a76ed69b0d42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5c209262354e2d" /><Relationship Type="http://schemas.openxmlformats.org/officeDocument/2006/relationships/notesMaster" Target="/ppt/notesMasters/notesMaster1.xml" Id="Rb44efb05df1142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07a1ef8a78491e" /><Relationship Type="http://schemas.openxmlformats.org/officeDocument/2006/relationships/notesMaster" Target="/ppt/notesMasters/notesMaster1.xml" Id="Rd1fe0b51e1dd46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af106bc9904a87" /><Relationship Type="http://schemas.openxmlformats.org/officeDocument/2006/relationships/notesMaster" Target="/ppt/notesMasters/notesMaster1.xml" Id="R3312f12d90004c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49337c8c3249de" /><Relationship Type="http://schemas.openxmlformats.org/officeDocument/2006/relationships/notesMaster" Target="/ppt/notesMasters/notesMaster1.xml" Id="Rd9f4a1bda6d644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be56c7c79543df" /><Relationship Type="http://schemas.openxmlformats.org/officeDocument/2006/relationships/notesMaster" Target="/ppt/notesMasters/notesMaster1.xml" Id="R296ca7b419864f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2fe489fe80471a" /><Relationship Type="http://schemas.openxmlformats.org/officeDocument/2006/relationships/notesMaster" Target="/ppt/notesMasters/notesMaster1.xml" Id="Radd8621d416349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6b61311e304d36" /><Relationship Type="http://schemas.openxmlformats.org/officeDocument/2006/relationships/notesMaster" Target="/ppt/notesMasters/notesMaster1.xml" Id="R6ec879ed67634f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e72a79d7bf4aed" /><Relationship Type="http://schemas.openxmlformats.org/officeDocument/2006/relationships/notesMaster" Target="/ppt/notesMasters/notesMaster1.xml" Id="R017b51a36f5e46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59fa3dbd0a497b" /><Relationship Type="http://schemas.openxmlformats.org/officeDocument/2006/relationships/notesMaster" Target="/ppt/notesMasters/notesMaster1.xml" Id="R6c42c525170c42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4fa8b3cf0c49c5" /><Relationship Type="http://schemas.openxmlformats.org/officeDocument/2006/relationships/notesMaster" Target="/ppt/notesMasters/notesMaster1.xml" Id="Rd2735fa5a3f542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59c64bb0b34a68" /><Relationship Type="http://schemas.openxmlformats.org/officeDocument/2006/relationships/notesMaster" Target="/ppt/notesMasters/notesMaster1.xml" Id="R35d3dbc6fddc4f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5dad1cb3a04a67" /><Relationship Type="http://schemas.openxmlformats.org/officeDocument/2006/relationships/notesMaster" Target="/ppt/notesMasters/notesMaster1.xml" Id="R46acdddf717941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6d55d0864f461d" /><Relationship Type="http://schemas.openxmlformats.org/officeDocument/2006/relationships/notesMaster" Target="/ppt/notesMasters/notesMaster1.xml" Id="Rbbf984f7b33e40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4e589c9f524a4d" /><Relationship Type="http://schemas.openxmlformats.org/officeDocument/2006/relationships/notesMaster" Target="/ppt/notesMasters/notesMaster1.xml" Id="Rd8286f178e0448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61c11508234bfa" /><Relationship Type="http://schemas.openxmlformats.org/officeDocument/2006/relationships/notesMaster" Target="/ppt/notesMasters/notesMaster1.xml" Id="R6c1f4511fd704c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主线12页，结构/文献附录5页，建议15–20分钟。依据2026-10-09至13探索，第18—22项并非逐次实验汇报。最新正式结果完全归档，未新训练。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样本固定为验证场景30第一张。来源config/manifest.csv;原RGB/四角度图片来自对应服务器数据路径，GT来自已归档固定例图。展示图8位，指标/浮点误差不由PNG计算。任务依据PolarFree CVPR2025 https://github.com/mdyao/PolarFree 和原文链接。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主路径study.recurrent_forward/staged.forward/gain22.FloatActionCostGate。E第2次主分支仍用P0，当前P1通过适配条件进入。PolarFree先验每次8步扩散，配对初始随机流。最终不是直接第二次完整重建，而是专用头T1+Δ再动作门控。旧update_gate仍计算但staged.gate覆盖其选择，对齐投影当前不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浮点NPZ：downstream/metrics/confidence_examples/validation/scene_30.npz。sample_id固定；同图全网格rho=-0.45587885528673194. C范围[0,1]，MAE上界色标为98%分位，4x4池化。总体-0.4594是逐图相关后平均，不是将所有区域当独立样本。H监督e/b+logb，C=exp(-b/tau)经验单调变换。Kendall&amp;Gal NeurIPS2017提供误差/不确定性语义背景，不等同复现其模型。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图由冻结浮点归档重绘。同图C-error rho=-0.4558788553，C-full-action gain rho=+0.308786425。低置信区域不自动意味着候选可修，存在较难反射和不可辨错误。散点固定步长约8000点，rho全网格。没有因果/显著性结论，亦未根据样本改阈值。数学依据DeltaE(a)=2a mean(e delta)+a^2mean(delta^2)。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validation/easy/30/0000，GT亮度std&gt;.035的128x128网格中事后取最大/最小平均原始MSE收益。位置和未量化成本见evidence_summary.json。蓝框/红框对应两处裁剪。PNG仅显示，完整指标依据浮点，极值示例不代表总体或部署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同图validation/easy/30/0000；热图为其原始浮点4x4 action_costs，蓝正红负，色标截断于绝对收益98%分位。GToracle是每区域选0/.25/.5/1动作，只用于核验，不能作为部署效果或可学性证明。底行数字是全部872验证的逐图PSNR平均增量，非本图指标；候选冻结来源21，actual全零mas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实际尝试围绕质量反馈、局部need/better/worse比较、动作成本、Q需求引导及浮点输入；此页以问题归类而非逐次实验。现有动作成本SmoothL1+.1expected cost，所有gate输入detach，GT替换不改变输出。原C/Q不同语义，最终M来自action_gate而非C直接阈值。M0严格where复制，属于已通过的实现合同。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最终全部动作预测均记录，未用全零部署输出掩盖排序。validation -0.0341/-0.0455/-0.0551;test 0.0228/.0184/.0029。逐图约4096采样后rho平均，仅描述，单seed无显著性或因果推断。训练监测为固定32裁剪bias角色，与128训练、原尺寸评价不同，不选权重。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training-only action_calibration.json，237bias/423safety角色来源已见过。每个非零cover网格gain&lt;0;harm31.84至82.61%，不能依据test放宽。1.6 empty acceptance，空集harm不展示成0%准确率。学习risk-coverage动机SelectiveNet ICML2019 https://proceedings.mlr.press/v97/geifman19a.html;本方法不是该论文复现。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安全固定样本65536区域，std中位数RGB .2263958/projected_task .3613594/delta_energy .00035524；不是全部训练总体。新增weights初始0。ridge fit_ridge标准化；gain22 inputs无标准化。这是训练条件事实而非已证实根因。抵消ratio中位.721，新增float补充后正式依旧0覆盖。旧legacy top10 netgain3.4527e-6/harm24.45%优于float2.1030e-6/harm35.11%，保留反证。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Read-onlyCPU exactcostloss test:pred=[.1,.3,-.2],target=[0,.1,.3,-.2],gradient=[-.00192569,-.00540806,.00687603]，pureSmoothL1应0。期望目标有策略解释，并非实现算错；不能未经对照宣称应删。二次结构代数精确，B可观测，A含GT，仅训练标签；建议结构化估A是待验证方案，不保证可预测。Current technical review file links to exact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仅研究建议，本次未启动任何新训练。配对等预算控制，一个变量一个结论。候选/第一轮复用固定即可，重训主干不是当前第一步。旧188test反复探索，不再用于新路线筛选，正式确认需要新增未参与选择场景。GToracle潜力不证明部署可学性，零coverage不算成功。下一步失败可能返回候选纠错方向，不换课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代码核对后的完整结构，原FigureSpec文件 F:\WORK\projects\pidsr_recurrent_joint_k2\analysis\confidence_review_20261013\figures\specs\arch_02_enhancer.json；节点文字/箭头为原生可编辑对象。字小为结构附录，单独SVG可缩放。图中所有重复基本块用×次数列出。全部实际登记组件、教师/遗留头/未用层及参数在data/module_inventory.csv；没有把未用组件画成活跃收益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代码核对后的完整结构，原FigureSpec文件 F:\WORK\projects\pidsr_recurrent_joint_k2\analysis\confidence_review_20261013\figures\specs\arch_03_polarfree.json；节点文字/箭头为原生可编辑对象。字小为结构附录，单独SVG可缩放。图中所有重复基本块用×次数列出。全部实际登记组件、教师/遗留头/未用层及参数在data/module_inventory.csv；没有把未用组件画成活跃收益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代码核对后的完整结构，原FigureSpec文件 F:\WORK\projects\pidsr_recurrent_joint_k2\analysis\confidence_review_20261013\figures\specs\arch_04_feedback_and_Q.json；节点文字/箭头为原生可编辑对象。字小为结构附录，单独SVG可缩放。图中所有重复基本块用×次数列出。全部实际登记组件、教师/遗留头/未用层及参数在data/module_inventory.csv；没有把未用组件画成活跃收益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代码核对后的完整结构，原FigureSpec文件 F:\WORK\projects\pidsr_recurrent_joint_k2\analysis\confidence_review_20261013\figures\specs\arch_05_judgement.json；节点文字/箭头为原生可编辑对象。字小为结构附录，单独SVG可缩放。图中所有重复基本块用×次数列出。全部实际登记组件、教师/遗留头/未用层及参数在data/module_inventory.csv；没有把未用组件画成活跃收益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完整引用：Zhou etal PIDSR CVPR2025 pp16081-16090 https://openaccess.thecvf.com/content/CVPR2025/papers/Zhou_PIDSR_Complementary_Polarized_Image_Demosaicing_and_Super-Resolution_CVPR_2025_paper.pdf ;Yao etal PolarFree CVPR2025 pp10890-10899 https://github.com/mdyao/PolarFree ;Zamir etal MPRNet CVPR2021 https://arxiv.org/abs/2102.02808 ;Kendall&amp;Gal NeurIPS2017 https://papers.nips.cc/paper_files/paper/2017/hash/2650d6089a6d640c5e85b2b88265dc2b-Abstract.html ;Geifman&amp;El-Yaniv SelectiveNet ICML2019 PMLR97:2151–2159 https://proceedings.mlr.press/v97/geifman19a.html . 无匹配继续训练对照、多项历史改变、单seed、训练角色已被来源见过、历史test探索，不能单独归因某模块。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1742bdb224f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91746db5346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03b3070f047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89ec89f0d45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7504d72874b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c07c9de73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70E646-726B-4473-AB97-BE7DA75AE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11A231-E97C-4A7C-9E4F-1D42378B3B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41B853-67C3-4F62-926F-2BE9DD8C9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2DC205-7D22-44FC-A153-6502571AA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E60828-A682-4D8A-B18E-7260834C52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BF6D9A-47C7-48B3-AEEE-E13272614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232AAF-E1F9-4F36-9669-1353DF9ABF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98EA04-1048-4992-87EA-4B18BDEFD9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D32E77-E968-45A1-B885-804755C05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AC39CE-9F44-42E4-8083-5D1E0B385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b7c84d4ad6439e" /><Relationship Type="http://schemas.openxmlformats.org/officeDocument/2006/relationships/slideLayout" Target="/ppt/slideLayouts/slideLayout1.xml" Id="Ra5245d6798f24eb9" /><Relationship Type="http://schemas.openxmlformats.org/officeDocument/2006/relationships/slideLayout" Target="/ppt/slideLayouts/slideLayout2.xml" Id="Rae567a925e074e7c" /><Relationship Type="http://schemas.openxmlformats.org/officeDocument/2006/relationships/slideLayout" Target="/ppt/slideLayouts/slideLayout3.xml" Id="Rab7f27703fbd49d0" /><Relationship Type="http://schemas.openxmlformats.org/officeDocument/2006/relationships/slideLayout" Target="/ppt/slideLayouts/slideLayout4.xml" Id="R3446e6f7a4bc49ba" /><Relationship Type="http://schemas.openxmlformats.org/officeDocument/2006/relationships/slideLayout" Target="/ppt/slideLayouts/slideLayout5.xml" Id="R8ae9203256e04577" /><Relationship Type="http://schemas.openxmlformats.org/officeDocument/2006/relationships/slideLayout" Target="/ppt/slideLayouts/slideLayout6.xml" Id="Rcfac5757b3304a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45d6798f24eb9"/>
    <p:sldLayoutId xmlns:r="http://schemas.openxmlformats.org/officeDocument/2006/relationships" id="2147483650" r:id="Rae567a925e074e7c"/>
    <p:sldLayoutId xmlns:r="http://schemas.openxmlformats.org/officeDocument/2006/relationships" id="2147483651" r:id="Rab7f27703fbd49d0"/>
    <p:sldLayoutId xmlns:r="http://schemas.openxmlformats.org/officeDocument/2006/relationships" id="2147483652" r:id="R3446e6f7a4bc49ba"/>
    <p:sldLayoutId xmlns:r="http://schemas.openxmlformats.org/officeDocument/2006/relationships" id="2147483653" r:id="R8ae9203256e04577"/>
    <p:sldLayoutId xmlns:r="http://schemas.openxmlformats.org/officeDocument/2006/relationships" id="2147483654" r:id="Rcfac5757b3304a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c916af8f24539" /><Relationship Type="http://schemas.openxmlformats.org/officeDocument/2006/relationships/notesSlide" Target="/ppt/notesSlides/notesSlide1.xml" Id="R413e7484313741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31597851a45f6" /><Relationship Type="http://schemas.openxmlformats.org/officeDocument/2006/relationships/image" Target="/ppt/media/image.png" Id="R3c8969570d0a414d" /><Relationship Type="http://schemas.openxmlformats.org/officeDocument/2006/relationships/image" Target="/ppt/media/image2.png" Id="R77a5acf6b1684aab" /><Relationship Type="http://schemas.openxmlformats.org/officeDocument/2006/relationships/image" Target="/ppt/media/image3.png" Id="Rbe95b6a74eb44ec3" /><Relationship Type="http://schemas.openxmlformats.org/officeDocument/2006/relationships/image" Target="/ppt/media/image4.png" Id="R41c7bf9241d9493b" /><Relationship Type="http://schemas.openxmlformats.org/officeDocument/2006/relationships/image" Target="/ppt/media/image5.png" Id="Re32188888fdf463d" /><Relationship Type="http://schemas.openxmlformats.org/officeDocument/2006/relationships/image" Target="/ppt/media/image6.png" Id="R9a4f0610fc154000" /><Relationship Type="http://schemas.openxmlformats.org/officeDocument/2006/relationships/notesSlide" Target="/ppt/notesSlides/notesSlide2.xml" Id="R6a8bb6c344aa4b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86ab782454363" /><Relationship Type="http://schemas.openxmlformats.org/officeDocument/2006/relationships/notesSlide" Target="/ppt/notesSlides/notesSlide3.xml" Id="Ra8f43da70296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5ae9297da41e8" /><Relationship Type="http://schemas.openxmlformats.org/officeDocument/2006/relationships/image" Target="/ppt/media/image7.png" Id="R2ca580f79a3f4f54" /><Relationship Type="http://schemas.openxmlformats.org/officeDocument/2006/relationships/image" Target="/ppt/media/image8.png" Id="R7fc56657fc434009" /><Relationship Type="http://schemas.openxmlformats.org/officeDocument/2006/relationships/image" Target="/ppt/media/image9.png" Id="R734fa91fa39644aa" /><Relationship Type="http://schemas.openxmlformats.org/officeDocument/2006/relationships/image" Target="/ppt/media/image10.png" Id="R4d1377eb57c246c2" /><Relationship Type="http://schemas.openxmlformats.org/officeDocument/2006/relationships/image" Target="/ppt/media/image11.png" Id="R45c22650725c4bd6" /><Relationship Type="http://schemas.openxmlformats.org/officeDocument/2006/relationships/notesSlide" Target="/ppt/notesSlides/notesSlide4.xml" Id="Rab9b68e7c9d749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41f8501f44bca" /><Relationship Type="http://schemas.openxmlformats.org/officeDocument/2006/relationships/image" Target="/ppt/media/image12.png" Id="Rcd5d3dbc3cbc4f1a" /><Relationship Type="http://schemas.openxmlformats.org/officeDocument/2006/relationships/notesSlide" Target="/ppt/notesSlides/notesSlide5.xml" Id="R3fefbb6df0d540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44088209f41de" /><Relationship Type="http://schemas.openxmlformats.org/officeDocument/2006/relationships/image" Target="/ppt/media/image13.png" Id="R0fb90cd38a964338" /><Relationship Type="http://schemas.openxmlformats.org/officeDocument/2006/relationships/image" Target="/ppt/media/image14.png" Id="Raf6041c4b62e45fe" /><Relationship Type="http://schemas.openxmlformats.org/officeDocument/2006/relationships/image" Target="/ppt/media/image15.png" Id="R01488cb6acdd4062" /><Relationship Type="http://schemas.openxmlformats.org/officeDocument/2006/relationships/image" Target="/ppt/media/image16.png" Id="R56a61417702644aa" /><Relationship Type="http://schemas.openxmlformats.org/officeDocument/2006/relationships/image" Target="/ppt/media/image17.png" Id="R73903389a4ce4e4c" /><Relationship Type="http://schemas.openxmlformats.org/officeDocument/2006/relationships/image" Target="/ppt/media/image18.png" Id="R01b13b0adf204b78" /><Relationship Type="http://schemas.openxmlformats.org/officeDocument/2006/relationships/image" Target="/ppt/media/image19.png" Id="Rb913ae8c2b184d82" /><Relationship Type="http://schemas.openxmlformats.org/officeDocument/2006/relationships/notesSlide" Target="/ppt/notesSlides/notesSlide6.xml" Id="R9f6e095e558848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4c473df574c99" /><Relationship Type="http://schemas.openxmlformats.org/officeDocument/2006/relationships/image" Target="/ppt/media/image20.png" Id="R8afd33a1696a4fa1" /><Relationship Type="http://schemas.openxmlformats.org/officeDocument/2006/relationships/image" Target="/ppt/media/image21.png" Id="Re90e42ca785644bd" /><Relationship Type="http://schemas.openxmlformats.org/officeDocument/2006/relationships/image" Target="/ppt/media/image22.png" Id="R7ca1410f85da4ce3" /><Relationship Type="http://schemas.openxmlformats.org/officeDocument/2006/relationships/image" Target="/ppt/media/image23.png" Id="R88e7ad172d664df1" /><Relationship Type="http://schemas.openxmlformats.org/officeDocument/2006/relationships/notesSlide" Target="/ppt/notesSlides/notesSlide7.xml" Id="Ref00f4f23ea74c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7e31725c74dd4" /><Relationship Type="http://schemas.openxmlformats.org/officeDocument/2006/relationships/notesSlide" Target="/ppt/notesSlides/notesSlide8.xml" Id="Rc0804bda02764b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1ef716e534f05" /><Relationship Type="http://schemas.openxmlformats.org/officeDocument/2006/relationships/chart" Target="/ppt/slides/charts/chart1.xml" Id="R35852f2c1eb3493e" /><Relationship Type="http://schemas.openxmlformats.org/officeDocument/2006/relationships/chart" Target="/ppt/slides/charts/chart2.xml" Id="Rf688bda8cc744980" /><Relationship Type="http://schemas.openxmlformats.org/officeDocument/2006/relationships/notesSlide" Target="/ppt/notesSlides/notesSlide9.xml" Id="R9e688bdcd4f64a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f6d0df1fc4ac2" /><Relationship Type="http://schemas.openxmlformats.org/officeDocument/2006/relationships/chart" Target="/ppt/slides/charts/chart3.xml" Id="R1d0dae84addb499f" /><Relationship Type="http://schemas.openxmlformats.org/officeDocument/2006/relationships/chart" Target="/ppt/slides/charts/chart4.xml" Id="R7e988368bb1a4ab9" /><Relationship Type="http://schemas.openxmlformats.org/officeDocument/2006/relationships/notesSlide" Target="/ppt/notesSlides/notesSlide10.xml" Id="R28dd5d514f134d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a16a8dab644d3" /><Relationship Type="http://schemas.openxmlformats.org/officeDocument/2006/relationships/chart" Target="/ppt/slides/charts/chart5.xml" Id="R98ba34df0cf34617" /><Relationship Type="http://schemas.openxmlformats.org/officeDocument/2006/relationships/notesSlide" Target="/ppt/notesSlides/notesSlide11.xml" Id="R90c4315db6884e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ee4dec55948d6" /><Relationship Type="http://schemas.openxmlformats.org/officeDocument/2006/relationships/notesSlide" Target="/ppt/notesSlides/notesSlide12.xml" Id="Rf4c09d75970343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8264106ab43e0" /><Relationship Type="http://schemas.openxmlformats.org/officeDocument/2006/relationships/notesSlide" Target="/ppt/notesSlides/notesSlide13.xml" Id="R420348a911c444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cb10a81b54528" /><Relationship Type="http://schemas.openxmlformats.org/officeDocument/2006/relationships/notesSlide" Target="/ppt/notesSlides/notesSlide14.xml" Id="Rf84c3a7813c140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7d98d88ab47d8" /><Relationship Type="http://schemas.openxmlformats.org/officeDocument/2006/relationships/notesSlide" Target="/ppt/notesSlides/notesSlide15.xml" Id="R157a1a04e9e44d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ade7cf85f48c5" /><Relationship Type="http://schemas.openxmlformats.org/officeDocument/2006/relationships/notesSlide" Target="/ppt/notesSlides/notesSlide16.xml" Id="Rb0c860b1ecff48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d38ccce1c4ec6" /><Relationship Type="http://schemas.openxmlformats.org/officeDocument/2006/relationships/notesSlide" Target="/ppt/notesSlides/notesSlide17.xml" Id="Rf56a2a6660bf4c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2ea74909e4968" /><Relationship Type="http://schemas.openxmlformats.org/officeDocument/2006/relationships/notesSlide" Target="/ppt/notesSlides/notesSlide18.xml" Id="R3c9735b505c34d7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验证</c:v>
          </c:tx>
          <c:spPr>
            <a:solidFill xmlns:a="http://schemas.openxmlformats.org/drawingml/2006/main">
              <a:srgbClr val="26748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0.25倍</c:v>
                </c:pt>
                <c:pt idx="1">
                  <c:v>0.5倍</c:v>
                </c:pt>
                <c:pt idx="2">
                  <c:v>1倍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-0.03405287341</c:v>
                </c:pt>
                <c:pt idx="1">
                  <c:v>-0.04549882525</c:v>
                </c:pt>
                <c:pt idx="2">
                  <c:v>-0.0551101211</c:v>
                </c:pt>
              </c:numCache>
            </c:numRef>
          </c:val>
        </c:ser>
        <c:ser>
          <c:idx val="1"/>
          <c:order val="1"/>
          <c:tx>
            <c:v>历史测试</c:v>
          </c:tx>
          <c:spPr>
            <a:solidFill xmlns:a="http://schemas.openxmlformats.org/drawingml/2006/main">
              <a:srgbClr val="C58B2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0.25倍</c:v>
                </c:pt>
                <c:pt idx="1">
                  <c:v>0.5倍</c:v>
                </c:pt>
                <c:pt idx="2">
                  <c:v>1倍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0.02283104872</c:v>
                </c:pt>
                <c:pt idx="1">
                  <c:v>0.01839664937</c:v>
                </c:pt>
                <c:pt idx="2">
                  <c:v>0.002876069429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4"/>
          <c:min val="-0.08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固定训练偏差裁剪</c:v>
          </c:tx>
          <c:spPr>
            <a:ln xmlns:a="http://schemas.openxmlformats.org/drawingml/2006/main" w="23813">
              <a:solidFill>
                <a:srgbClr val="26748B"/>
              </a:solidFill>
            </a:ln>
          </c:spPr>
          <c:marker>
            <c:symbol val="none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500</c:v>
                </c:pt>
                <c:pt idx="2">
                  <c:v>1000</c:v>
                </c:pt>
                <c:pt idx="3">
                  <c:v>1500</c:v>
                </c:pt>
                <c:pt idx="4">
                  <c:v>2000</c:v>
                </c:pt>
                <c:pt idx="5">
                  <c:v>2500</c:v>
                </c:pt>
                <c:pt idx="6">
                  <c:v>3000</c:v>
                </c:pt>
              </c:numCache>
            </c:numRef>
          </c:cat>
          <c:val>
            <c:numRef>
              <c:f>'Chart Data'!$B$2:$B$8</c:f>
              <c:numCache>
                <c:formatCode>0.0000</c:formatCode>
                <c:ptCount val="7"/>
                <c:pt idx="0">
                  <c:v>0.01669109269</c:v>
                </c:pt>
                <c:pt idx="1">
                  <c:v>0.01697681898</c:v>
                </c:pt>
                <c:pt idx="2">
                  <c:v>0.01671044598</c:v>
                </c:pt>
                <c:pt idx="3">
                  <c:v>0.01695975954</c:v>
                </c:pt>
                <c:pt idx="4">
                  <c:v>0.01675181961</c:v>
                </c:pt>
                <c:pt idx="5">
                  <c:v>0.01701106482</c:v>
                </c:pt>
                <c:pt idx="6">
                  <c:v>0.01682878578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172"/>
          <c:min val="0.0165"/>
        </c:scaling>
        <c:delete val="0"/>
        <c:axPos val="l"/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接受比例</c:v>
          </c:tx>
          <c:spPr>
            <a:solidFill xmlns:a="http://schemas.openxmlformats.org/drawingml/2006/main">
              <a:srgbClr val="26748B"/>
            </a:solidFill>
          </c:spPr>
          <c:invertIfNegative val="0"/>
          <c:cat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0.4</c:v>
                </c:pt>
                <c:pt idx="5">
                  <c:v>0.8</c:v>
                </c:pt>
                <c:pt idx="6">
                  <c:v>1.6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16.60110205</c:v>
                </c:pt>
                <c:pt idx="1">
                  <c:v>5.521493405</c:v>
                </c:pt>
                <c:pt idx="2">
                  <c:v>3.368219361</c:v>
                </c:pt>
                <c:pt idx="3">
                  <c:v>1.743071899</c:v>
                </c:pt>
                <c:pt idx="4">
                  <c:v>0.4283977207</c:v>
                </c:pt>
                <c:pt idx="5">
                  <c:v>0.01059478163</c:v>
                </c:pt>
                <c:pt idx="6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有害比例</c:v>
          </c:tx>
          <c:spPr>
            <a:ln xmlns:a="http://schemas.openxmlformats.org/drawingml/2006/main" w="28575">
              <a:solidFill>
                <a:srgbClr val="B94F4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0.4</c:v>
                </c:pt>
                <c:pt idx="5">
                  <c:v>0.8</c:v>
                </c:pt>
              </c:numCache>
            </c:numRef>
          </c:cat>
          <c:val>
            <c:numRef>
              <c:f>'Chart Data'!$B$2:$B$7</c:f>
              <c:numCache>
                <c:formatCode>0</c:formatCode>
                <c:ptCount val="6"/>
                <c:pt idx="0">
                  <c:v>31.83634281</c:v>
                </c:pt>
                <c:pt idx="1">
                  <c:v>48.22925925</c:v>
                </c:pt>
                <c:pt idx="2">
                  <c:v>53.4532249</c:v>
                </c:pt>
                <c:pt idx="3">
                  <c:v>61.52219772</c:v>
                </c:pt>
                <c:pt idx="4">
                  <c:v>64.24731016</c:v>
                </c:pt>
                <c:pt idx="5">
                  <c:v>82.60869384</c:v>
                </c:pt>
              </c:numCache>
            </c:numRef>
          </c:val>
          <c:smooth val="0"/>
        </c:ser>
        <c:ser>
          <c:idx val="1"/>
          <c:order val="1"/>
          <c:tx>
            <c:v>预定20%上限</c:v>
          </c:tx>
          <c:spPr>
            <a:ln xmlns:a="http://schemas.openxmlformats.org/drawingml/2006/main" w="14288">
              <a:solidFill>
                <a:srgbClr val="64748B"/>
              </a:solidFill>
              <a:prstDash val="dash"/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0.4</c:v>
                </c:pt>
                <c:pt idx="5">
                  <c:v>0.8</c:v>
                </c:pt>
              </c:numCache>
            </c:numRef>
          </c:cat>
          <c:val>
            <c:numRef>
              <c:f>'Chart Data'!$D$2:$D$7</c:f>
              <c:numCache>
                <c:formatCode>0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log10通道std中位数</c:v>
          </c:tx>
          <c:spPr>
            <a:solidFill xmlns:a="http://schemas.openxmlformats.org/drawingml/2006/main">
              <a:srgbClr val="26748B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RGB</c:v>
                </c:pt>
                <c:pt idx="1">
                  <c:v>任务特征</c:v>
                </c:pt>
                <c:pt idx="2">
                  <c:v>均值增量</c:v>
                </c:pt>
                <c:pt idx="3">
                  <c:v>增量平方</c:v>
                </c:pt>
                <c:pt idx="4">
                  <c:v>绝对增量</c:v>
                </c:pt>
                <c:pt idx="5">
                  <c:v>状态Z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-0.6451316615</c:v>
                </c:pt>
                <c:pt idx="1">
                  <c:v>-0.4420606226</c:v>
                </c:pt>
                <c:pt idx="2">
                  <c:v>-2.257369471</c:v>
                </c:pt>
                <c:pt idx="3">
                  <c:v>-3.449478084</c:v>
                </c:pt>
                <c:pt idx="4">
                  <c:v>-2.310260874</c:v>
                </c:pt>
                <c:pt idx="5">
                  <c:v>-1.712838247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4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置信度如何帮助第二轮纠错">
            <a:extLst xmlns:a="http://schemas.openxmlformats.org/drawingml/2006/main">
              <a:ext uri="{FF2B5EF4-FFF2-40B4-BE49-F238E27FC236}">
                <a16:creationId xmlns:a16="http://schemas.microsoft.com/office/drawing/2014/main" id="{F183F8AA-F27A-47ED-89E4-D18298B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置信度如何帮助第二轮纠错</a:t>
            </a:r>
          </a:p>
        </p:txBody>
      </p:sp>
      <p:sp>
        <p:nvSpPr>
          <p:cNvPr id="2" name="质量判断与修正收益之间的差距">
            <a:extLst xmlns:a="http://schemas.openxmlformats.org/drawingml/2006/main">
              <a:ext uri="{FF2B5EF4-FFF2-40B4-BE49-F238E27FC236}">
                <a16:creationId xmlns:a16="http://schemas.microsoft.com/office/drawing/2014/main" id="{F6D22CF9-12BF-4355-A527-3A86A184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质量判断与修正收益之间的差距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78EED1B7-5885-4FDA-9ED1-812BFFEF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6730015-1C3C-453F-9183-C819774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第一轮已经修好了很多地方。&#10;第二轮怎样保住这些结果，&#10;同时修好剩下的错">
            <a:extLst xmlns:a="http://schemas.openxmlformats.org/drawingml/2006/main">
              <a:ext uri="{FF2B5EF4-FFF2-40B4-BE49-F238E27FC236}">
                <a16:creationId xmlns:a16="http://schemas.microsoft.com/office/drawing/2014/main" id="{3C087C04-447C-43BD-BB5D-1567E856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57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第一轮已经修好了很多地方。</a:t>
            </a:r>
          </a:p>
          <a:p xmlns:a="http://schemas.openxmlformats.org/drawingml/2006/main">
            <a:pPr algn="l">
              <a:defRPr sz="35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第二轮怎样保住这些结果，</a:t>
            </a:r>
          </a:p>
          <a:p xmlns:a="http://schemas.openxmlformats.org/drawingml/2006/main">
            <a:pPr algn="l">
              <a:defRPr sz="35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同时修好剩下的错误？</a:t>
            </a:r>
          </a:p>
        </p:txBody>
      </p:sp>
      <p:sp>
        <p:nvSpPr>
          <p:cNvPr id="6" name="汇报围绕问题与证据展开&#10;实际输出、未门控候选和GT理想参照分别报告">
            <a:extLst xmlns:a="http://schemas.openxmlformats.org/drawingml/2006/main">
              <a:ext uri="{FF2B5EF4-FFF2-40B4-BE49-F238E27FC236}">
                <a16:creationId xmlns:a16="http://schemas.microsoft.com/office/drawing/2014/main" id="{6F6E0CFD-CD90-446D-AB46-32946841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汇报围绕问题与证据展开</a:t>
            </a:r>
          </a:p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实际输出、未门控候选和GT理想参照分别报告</a:t>
            </a:r>
          </a:p>
        </p:txBody>
      </p:sp>
    </p:spTree>
    <p:extLst>
      <p:ext uri="{BB962C8B-B14F-4D97-AF65-F5344CB8AC3E}">
        <p14:creationId xmlns:p14="http://schemas.microsoft.com/office/powerpoint/2010/main" val="1232719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输入中的反射与恢复目标">
            <a:extLst xmlns:a="http://schemas.openxmlformats.org/drawingml/2006/main">
              <a:ext uri="{FF2B5EF4-FFF2-40B4-BE49-F238E27FC236}">
                <a16:creationId xmlns:a16="http://schemas.microsoft.com/office/drawing/2014/main" id="{564DCAD7-3F5C-42A3-B9F6-7DA7CE28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输入中的反射与恢复目标</a:t>
            </a:r>
          </a:p>
        </p:txBody>
      </p:sp>
      <p:sp>
        <p:nvSpPr>
          <p:cNvPr id="2" name="固定验证样本 validation/easy/30/0000">
            <a:extLst xmlns:a="http://schemas.openxmlformats.org/drawingml/2006/main">
              <a:ext uri="{FF2B5EF4-FFF2-40B4-BE49-F238E27FC236}">
                <a16:creationId xmlns:a16="http://schemas.microsoft.com/office/drawing/2014/main" id="{8107DDFC-7E5F-4B37-B3BE-0E430B9B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固定验证样本 validation/easy/30/0000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CADAA22D-65E2-4755-96A8-F2467288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6D4FD0CA-4CF6-4136-9735-7D10118B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933B0-5689-43E0-A5D0-A1FCA7E59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969570d0a414d"/>
          <a:stretch xmlns:a="http://schemas.openxmlformats.org/drawingml/2006/main"/>
        </p:blipFill>
        <p:spPr>
          <a:xfrm xmlns:a="http://schemas.openxmlformats.org/drawingml/2006/main">
            <a:off x="465013" y="1790700"/>
            <a:ext cx="3984873" cy="3333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1CB9C-C0D0-4B80-9C4B-3CD447C2D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5acf6b1684aab"/>
          <a:stretch xmlns:a="http://schemas.openxmlformats.org/drawingml/2006/main"/>
        </p:blipFill>
        <p:spPr>
          <a:xfrm xmlns:a="http://schemas.openxmlformats.org/drawingml/2006/main">
            <a:off x="4713163" y="1790700"/>
            <a:ext cx="3984873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混合RGB I">
            <a:extLst xmlns:a="http://schemas.openxmlformats.org/drawingml/2006/main">
              <a:ext uri="{FF2B5EF4-FFF2-40B4-BE49-F238E27FC236}">
                <a16:creationId xmlns:a16="http://schemas.microsoft.com/office/drawing/2014/main" id="{117A59CA-E98F-4963-81A3-7E42CCA8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混合RGB I</a:t>
            </a:r>
          </a:p>
        </p:txBody>
      </p:sp>
      <p:sp>
        <p:nvSpPr>
          <p:cNvPr id="8" name="目标GT（只用于监督与评价）">
            <a:extLst xmlns:a="http://schemas.openxmlformats.org/drawingml/2006/main">
              <a:ext uri="{FF2B5EF4-FFF2-40B4-BE49-F238E27FC236}">
                <a16:creationId xmlns:a16="http://schemas.microsoft.com/office/drawing/2014/main" id="{DE526C68-5F47-4857-8B0B-CB4DF99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47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目标GT（只用于监督与评价）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D4AA7-38DF-43BC-A7EE-5DC1AC0B8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5b6a74eb44ec3"/>
          <a:stretch xmlns:a="http://schemas.openxmlformats.org/drawingml/2006/main"/>
        </p:blipFill>
        <p:spPr>
          <a:xfrm xmlns:a="http://schemas.openxmlformats.org/drawingml/2006/main">
            <a:off x="9029700" y="1879133"/>
            <a:ext cx="1257300" cy="1051859"/>
          </a:xfrm>
          <a:prstGeom xmlns:a="http://schemas.openxmlformats.org/drawingml/2006/main" prst="rect">
            <a:avLst/>
          </a:prstGeom>
        </p:spPr>
      </p:pic>
      <p:sp>
        <p:nvSpPr>
          <p:cNvPr id="10" name="0°">
            <a:extLst xmlns:a="http://schemas.openxmlformats.org/drawingml/2006/main">
              <a:ext uri="{FF2B5EF4-FFF2-40B4-BE49-F238E27FC236}">
                <a16:creationId xmlns:a16="http://schemas.microsoft.com/office/drawing/2014/main" id="{2882CCDD-D28D-4CDB-9381-BDD2D472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9D86D-C0AC-44FA-A63C-A88A1F358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7bf9241d9493b"/>
          <a:stretch xmlns:a="http://schemas.openxmlformats.org/drawingml/2006/main"/>
        </p:blipFill>
        <p:spPr>
          <a:xfrm xmlns:a="http://schemas.openxmlformats.org/drawingml/2006/main">
            <a:off x="10410825" y="1879133"/>
            <a:ext cx="1257300" cy="1051859"/>
          </a:xfrm>
          <a:prstGeom xmlns:a="http://schemas.openxmlformats.org/drawingml/2006/main" prst="rect">
            <a:avLst/>
          </a:prstGeom>
        </p:spPr>
      </p:pic>
      <p:sp>
        <p:nvSpPr>
          <p:cNvPr id="12" name="45°">
            <a:extLst xmlns:a="http://schemas.openxmlformats.org/drawingml/2006/main">
              <a:ext uri="{FF2B5EF4-FFF2-40B4-BE49-F238E27FC236}">
                <a16:creationId xmlns:a16="http://schemas.microsoft.com/office/drawing/2014/main" id="{DEC405CE-AF0D-4F9C-BFC7-1C537C80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09900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45°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4E7E2-FA98-4415-850D-BECC6EF46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188888fdf463d"/>
          <a:stretch xmlns:a="http://schemas.openxmlformats.org/drawingml/2006/main"/>
        </p:blipFill>
        <p:spPr>
          <a:xfrm xmlns:a="http://schemas.openxmlformats.org/drawingml/2006/main">
            <a:off x="9029700" y="3546008"/>
            <a:ext cx="1257300" cy="1051859"/>
          </a:xfrm>
          <a:prstGeom xmlns:a="http://schemas.openxmlformats.org/drawingml/2006/main" prst="rect">
            <a:avLst/>
          </a:prstGeom>
        </p:spPr>
      </p:pic>
      <p:sp>
        <p:nvSpPr>
          <p:cNvPr id="14" name="90°">
            <a:extLst xmlns:a="http://schemas.openxmlformats.org/drawingml/2006/main">
              <a:ext uri="{FF2B5EF4-FFF2-40B4-BE49-F238E27FC236}">
                <a16:creationId xmlns:a16="http://schemas.microsoft.com/office/drawing/2014/main" id="{BEB17C7D-65AA-432E-B26A-FE94A484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7677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90°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81120-7794-4631-B676-849D7D2F66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f0610fc154000"/>
          <a:stretch xmlns:a="http://schemas.openxmlformats.org/drawingml/2006/main"/>
        </p:blipFill>
        <p:spPr>
          <a:xfrm xmlns:a="http://schemas.openxmlformats.org/drawingml/2006/main">
            <a:off x="10410825" y="3546008"/>
            <a:ext cx="1257300" cy="1051859"/>
          </a:xfrm>
          <a:prstGeom xmlns:a="http://schemas.openxmlformats.org/drawingml/2006/main" prst="rect">
            <a:avLst/>
          </a:prstGeom>
        </p:spPr>
      </p:pic>
      <p:sp>
        <p:nvSpPr>
          <p:cNvPr id="16" name="135°">
            <a:extLst xmlns:a="http://schemas.openxmlformats.org/drawingml/2006/main">
              <a:ext uri="{FF2B5EF4-FFF2-40B4-BE49-F238E27FC236}">
                <a16:creationId xmlns:a16="http://schemas.microsoft.com/office/drawing/2014/main" id="{F87A85F5-DC1A-4FA4-BB4B-BC7C2E7A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67677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135°</a:t>
            </a:r>
          </a:p>
        </p:txBody>
      </p:sp>
      <p:sp>
        <p:nvSpPr>
          <p:cNvPr id="17" name="四角度偏振 P0">
            <a:extLst xmlns:a="http://schemas.openxmlformats.org/drawingml/2006/main">
              <a:ext uri="{FF2B5EF4-FFF2-40B4-BE49-F238E27FC236}">
                <a16:creationId xmlns:a16="http://schemas.microsoft.com/office/drawing/2014/main" id="{C94C02A0-9A74-4051-A661-55F4C33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43827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四角度偏振 P0</a:t>
            </a:r>
          </a:p>
        </p:txBody>
      </p:sp>
      <p:sp>
        <p:nvSpPr>
          <p:cNvPr id="18" name="I−T1 是可观测差分，其中混有恢复错误；不能直接当成真实反射层">
            <a:extLst xmlns:a="http://schemas.openxmlformats.org/drawingml/2006/main">
              <a:ext uri="{FF2B5EF4-FFF2-40B4-BE49-F238E27FC236}">
                <a16:creationId xmlns:a16="http://schemas.microsoft.com/office/drawing/2014/main" id="{EAD5B899-7C15-4A7C-8541-BE192F50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I−T1 是可观测差分，其中混有恢复错误；不能直接当成真实反射层</a:t>
            </a:r>
          </a:p>
        </p:txBody>
      </p:sp>
    </p:spTree>
    <p:extLst>
      <p:ext uri="{BB962C8B-B14F-4D97-AF65-F5344CB8AC3E}">
        <p14:creationId xmlns:p14="http://schemas.microsoft.com/office/powerpoint/2010/main" val="1788070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5BA64-3BC1-4A9A-BDF8-4E266037D2E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595438" y="3000375"/>
            <a:ext cx="8382000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01E18-F7B9-4B22-9366-B42302AB15B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953250" y="300037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BF52C-6B46-48FF-A7C7-5D0F81A75D2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001000" y="4772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3BD2E-3A65-4743-81D9-C5246C42487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381625" y="4772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937E0-FCC9-4D0D-A185-261742DE86D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19375" y="4772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48A15-86F9-42F4-904B-FF3DB20DDD0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2524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D3551-CE1A-4595-8912-012F1D5478D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81625" y="2524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D7260-D930-4A8B-A6D2-7D84C10F21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19375" y="2524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sp>
        <p:nvSpPr>
          <p:cNvPr id="23" name="当前循环的主路径">
            <a:extLst xmlns:a="http://schemas.openxmlformats.org/drawingml/2006/main">
              <a:ext uri="{FF2B5EF4-FFF2-40B4-BE49-F238E27FC236}">
                <a16:creationId xmlns:a16="http://schemas.microsoft.com/office/drawing/2014/main" id="{5EA70C6F-AD75-40E8-9E69-A418F506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当前循环的主路径</a:t>
            </a:r>
          </a:p>
        </p:txBody>
      </p:sp>
      <p:sp>
        <p:nvSpPr>
          <p:cNvPr id="2" name="完整组件在结构附录及配套可编辑SVG中展开">
            <a:extLst xmlns:a="http://schemas.openxmlformats.org/drawingml/2006/main">
              <a:ext uri="{FF2B5EF4-FFF2-40B4-BE49-F238E27FC236}">
                <a16:creationId xmlns:a16="http://schemas.microsoft.com/office/drawing/2014/main" id="{B06DF27D-26A8-4178-8974-1547248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完整组件在结构附录及配套可编辑SVG中展开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04583DCA-1C86-4623-99E2-E1FEA7B1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8663F736-DC44-44AA-9A3A-FD53560A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增强器 E&#10;第一次">
            <a:extLst xmlns:a="http://schemas.openxmlformats.org/drawingml/2006/main">
              <a:ext uri="{FF2B5EF4-FFF2-40B4-BE49-F238E27FC236}">
                <a16:creationId xmlns:a16="http://schemas.microsoft.com/office/drawing/2014/main" id="{E7AE72F5-97FA-48E1-BB28-CA63249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04787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增强器 E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第一次</a:t>
            </a:r>
          </a:p>
        </p:txBody>
      </p:sp>
      <p:sp>
        <p:nvSpPr>
          <p:cNvPr id="6" name="浮点桥 + PolarFree&#10;第一次">
            <a:extLst xmlns:a="http://schemas.openxmlformats.org/drawingml/2006/main">
              <a:ext uri="{FF2B5EF4-FFF2-40B4-BE49-F238E27FC236}">
                <a16:creationId xmlns:a16="http://schemas.microsoft.com/office/drawing/2014/main" id="{262115B2-EB72-4BBD-B100-9C0B919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23837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浮点桥 + PolarFree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第一次</a:t>
            </a:r>
          </a:p>
        </p:txBody>
      </p:sp>
      <p:sp>
        <p:nvSpPr>
          <p:cNvPr id="7" name="T1 与多尺度F1">
            <a:extLst xmlns:a="http://schemas.openxmlformats.org/drawingml/2006/main">
              <a:ext uri="{FF2B5EF4-FFF2-40B4-BE49-F238E27FC236}">
                <a16:creationId xmlns:a16="http://schemas.microsoft.com/office/drawing/2014/main" id="{341D86B9-0A2E-4FEA-9AC9-8EBE1D48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T1 与多尺度F1</a:t>
            </a:r>
          </a:p>
        </p:txBody>
      </p:sp>
      <p:sp>
        <p:nvSpPr>
          <p:cNvPr id="8" name="质量 H / C&#10;跨轮Z与需求Q">
            <a:extLst xmlns:a="http://schemas.openxmlformats.org/drawingml/2006/main">
              <a:ext uri="{FF2B5EF4-FFF2-40B4-BE49-F238E27FC236}">
                <a16:creationId xmlns:a16="http://schemas.microsoft.com/office/drawing/2014/main" id="{22D10510-5D3D-45BE-B9FB-4BAF25D5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61937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质量 H / C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跨轮Z与需求Q</a:t>
            </a:r>
          </a:p>
        </p:txBody>
      </p:sp>
      <p:sp>
        <p:nvSpPr>
          <p:cNvPr id="9" name="相同增强器 E&#10;第二次，加入反馈">
            <a:extLst xmlns:a="http://schemas.openxmlformats.org/drawingml/2006/main">
              <a:ext uri="{FF2B5EF4-FFF2-40B4-BE49-F238E27FC236}">
                <a16:creationId xmlns:a16="http://schemas.microsoft.com/office/drawing/2014/main" id="{43816071-D0F8-46B1-9C06-94D59ED8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20478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相同增强器 E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第二次，加入反馈</a:t>
            </a:r>
          </a:p>
        </p:txBody>
      </p:sp>
      <p:sp>
        <p:nvSpPr>
          <p:cNvPr id="10" name="相同PolarFree&#10;第二次，解码适配">
            <a:extLst xmlns:a="http://schemas.openxmlformats.org/drawingml/2006/main">
              <a:ext uri="{FF2B5EF4-FFF2-40B4-BE49-F238E27FC236}">
                <a16:creationId xmlns:a16="http://schemas.microsoft.com/office/drawing/2014/main" id="{0C91BFA3-6040-4C00-882E-B52151B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22383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相同PolarFree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第二次，解码适配</a:t>
            </a:r>
          </a:p>
        </p:txBody>
      </p:sp>
      <p:sp>
        <p:nvSpPr>
          <p:cNvPr id="11" name="专用RGB修正&#10;U=T1+Δ">
            <a:extLst xmlns:a="http://schemas.openxmlformats.org/drawingml/2006/main">
              <a:ext uri="{FF2B5EF4-FFF2-40B4-BE49-F238E27FC236}">
                <a16:creationId xmlns:a16="http://schemas.microsoft.com/office/drawing/2014/main" id="{75039B80-D576-4669-BDB5-9F23F9B3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2095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专用RGB修正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U=T1+Δ</a:t>
            </a:r>
          </a:p>
        </p:txBody>
      </p:sp>
      <p:sp>
        <p:nvSpPr>
          <p:cNvPr id="12" name="动作收益判断&#10;选M并组成T2">
            <a:extLst xmlns:a="http://schemas.openxmlformats.org/drawingml/2006/main">
              <a:ext uri="{FF2B5EF4-FFF2-40B4-BE49-F238E27FC236}">
                <a16:creationId xmlns:a16="http://schemas.microsoft.com/office/drawing/2014/main" id="{B3EFD591-CA63-4C9B-8889-FE91767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6193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CF0ED"/>
          </a:solidFill>
          <a:ln xmlns:a="http://schemas.openxmlformats.org/drawingml/2006/main" w="13335">
            <a:solidFill>
              <a:srgbClr val="B94F43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动作收益判断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选M并组成T2</a:t>
            </a:r>
          </a:p>
        </p:txBody>
      </p:sp>
      <p:sp>
        <p:nvSpPr>
          <p:cNvPr id="21" name="原P0与原RGB始终可访问；两次真实增强与任务执行，主干共享">
            <a:extLst xmlns:a="http://schemas.openxmlformats.org/drawingml/2006/main">
              <a:ext uri="{FF2B5EF4-FFF2-40B4-BE49-F238E27FC236}">
                <a16:creationId xmlns:a16="http://schemas.microsoft.com/office/drawing/2014/main" id="{D7AA9692-A0FF-441F-B72D-08587B34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3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原P0与原RGB始终可访问；两次真实增强与任务执行，主干共享</a:t>
            </a:r>
          </a:p>
        </p:txBody>
      </p:sp>
      <p:sp>
        <p:nvSpPr>
          <p:cNvPr id="22" name="最新仅训练红框判断器15,627参数，第一轮和候选生成全部冻结">
            <a:extLst xmlns:a="http://schemas.openxmlformats.org/drawingml/2006/main">
              <a:ext uri="{FF2B5EF4-FFF2-40B4-BE49-F238E27FC236}">
                <a16:creationId xmlns:a16="http://schemas.microsoft.com/office/drawing/2014/main" id="{A30539A8-980F-4896-9213-F76CEE4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23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最新仅训练红框判断器15,627参数，第一轮和候选生成全部冻结</a:t>
            </a:r>
          </a:p>
        </p:txBody>
      </p:sp>
    </p:spTree>
    <p:extLst>
      <p:ext uri="{BB962C8B-B14F-4D97-AF65-F5344CB8AC3E}">
        <p14:creationId xmlns:p14="http://schemas.microsoft.com/office/powerpoint/2010/main" val="1790077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置信图仍有质量排序信息">
            <a:extLst xmlns:a="http://schemas.openxmlformats.org/drawingml/2006/main">
              <a:ext uri="{FF2B5EF4-FFF2-40B4-BE49-F238E27FC236}">
                <a16:creationId xmlns:a16="http://schemas.microsoft.com/office/drawing/2014/main" id="{355BD25E-191C-432A-A6F3-C2EE2F31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置信图仍有质量排序信息</a:t>
            </a:r>
          </a:p>
        </p:txBody>
      </p:sp>
      <p:sp>
        <p:nvSpPr>
          <p:cNvPr id="2" name="高分区域通常误差较低，但C不是正确概率">
            <a:extLst xmlns:a="http://schemas.openxmlformats.org/drawingml/2006/main">
              <a:ext uri="{FF2B5EF4-FFF2-40B4-BE49-F238E27FC236}">
                <a16:creationId xmlns:a16="http://schemas.microsoft.com/office/drawing/2014/main" id="{B4951687-B25E-41B5-8BA4-C4381F37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高分区域通常误差较低，但C不是正确概率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760A1A50-B87B-4B18-BA55-227F3642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71818855-F9FF-494A-8BF8-F44CA3DE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第一轮 T1">
            <a:extLst xmlns:a="http://schemas.openxmlformats.org/drawingml/2006/main">
              <a:ext uri="{FF2B5EF4-FFF2-40B4-BE49-F238E27FC236}">
                <a16:creationId xmlns:a16="http://schemas.microsoft.com/office/drawing/2014/main" id="{AF3B6905-36C0-412B-8305-CF7E26FF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354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第一轮 T1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C93FE-A9CA-4EEE-9A46-0C426A8492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580f79a3f4f54"/>
          <a:stretch xmlns:a="http://schemas.openxmlformats.org/drawingml/2006/main"/>
        </p:blipFill>
        <p:spPr>
          <a:xfrm xmlns:a="http://schemas.openxmlformats.org/drawingml/2006/main">
            <a:off x="458428" y="2000250"/>
            <a:ext cx="3540844" cy="2962275"/>
          </a:xfrm>
          <a:prstGeom xmlns:a="http://schemas.openxmlformats.org/drawingml/2006/main" prst="rect">
            <a:avLst/>
          </a:prstGeom>
        </p:spPr>
      </p:pic>
      <p:sp>
        <p:nvSpPr>
          <p:cNvPr id="7" name="预测质量分数 C">
            <a:extLst xmlns:a="http://schemas.openxmlformats.org/drawingml/2006/main">
              <a:ext uri="{FF2B5EF4-FFF2-40B4-BE49-F238E27FC236}">
                <a16:creationId xmlns:a16="http://schemas.microsoft.com/office/drawing/2014/main" id="{99BBA8CD-F04E-4E6A-96CE-61E41F63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52575"/>
            <a:ext cx="354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预测质量分数 C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12AD7-2949-4777-ACE5-975DD8E0B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56657fc434009"/>
          <a:stretch xmlns:a="http://schemas.openxmlformats.org/drawingml/2006/main"/>
        </p:blipFill>
        <p:spPr>
          <a:xfrm xmlns:a="http://schemas.openxmlformats.org/drawingml/2006/main">
            <a:off x="4268428" y="2000250"/>
            <a:ext cx="3540844" cy="2962275"/>
          </a:xfrm>
          <a:prstGeom xmlns:a="http://schemas.openxmlformats.org/drawingml/2006/main" prst="rect">
            <a:avLst/>
          </a:prstGeom>
        </p:spPr>
      </p:pic>
      <p:sp>
        <p:nvSpPr>
          <p:cNvPr id="9" name="GT核验的局部MAE">
            <a:extLst xmlns:a="http://schemas.openxmlformats.org/drawingml/2006/main">
              <a:ext uri="{FF2B5EF4-FFF2-40B4-BE49-F238E27FC236}">
                <a16:creationId xmlns:a16="http://schemas.microsoft.com/office/drawing/2014/main" id="{01802108-C706-4654-B877-94BEBE18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52575"/>
            <a:ext cx="354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GT核验的局部MAE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1DA78-2C34-442C-A9CA-525541B3D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fa91fa39644aa"/>
          <a:stretch xmlns:a="http://schemas.openxmlformats.org/drawingml/2006/main"/>
        </p:blipFill>
        <p:spPr>
          <a:xfrm xmlns:a="http://schemas.openxmlformats.org/drawingml/2006/main">
            <a:off x="8078428" y="2000250"/>
            <a:ext cx="3540844" cy="29622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422AC-0A62-4B7F-B9D5-90076EB24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377eb57c246c2"/>
          <a:stretch xmlns:a="http://schemas.openxmlformats.org/drawingml/2006/main"/>
        </p:blipFill>
        <p:spPr>
          <a:xfrm xmlns:a="http://schemas.openxmlformats.org/drawingml/2006/main">
            <a:off x="4307032" y="5153025"/>
            <a:ext cx="3463636" cy="152400"/>
          </a:xfrm>
          <a:prstGeom xmlns:a="http://schemas.openxmlformats.org/drawingml/2006/main" prst="rect">
            <a:avLst/>
          </a:prstGeom>
        </p:spPr>
      </p:pic>
      <p:sp>
        <p:nvSpPr>
          <p:cNvPr id="12" name="0：低质量">
            <a:extLst xmlns:a="http://schemas.openxmlformats.org/drawingml/2006/main">
              <a:ext uri="{FF2B5EF4-FFF2-40B4-BE49-F238E27FC236}">
                <a16:creationId xmlns:a16="http://schemas.microsoft.com/office/drawing/2014/main" id="{1B7A7FB0-8F2D-4AF0-8B13-46569002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625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0：低质量</a:t>
            </a:r>
          </a:p>
        </p:txBody>
      </p:sp>
      <p:sp>
        <p:nvSpPr>
          <p:cNvPr id="13" name="1：高质量">
            <a:extLst xmlns:a="http://schemas.openxmlformats.org/drawingml/2006/main">
              <a:ext uri="{FF2B5EF4-FFF2-40B4-BE49-F238E27FC236}">
                <a16:creationId xmlns:a16="http://schemas.microsoft.com/office/drawing/2014/main" id="{0CE83DBA-CF7A-4A3A-97A5-69BE1ACE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625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1：高质量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BCA66-B0E7-40E0-899C-D6F084EFF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22650725c4bd6"/>
          <a:stretch xmlns:a="http://schemas.openxmlformats.org/drawingml/2006/main"/>
        </p:blipFill>
        <p:spPr>
          <a:xfrm xmlns:a="http://schemas.openxmlformats.org/drawingml/2006/main">
            <a:off x="8117032" y="5153025"/>
            <a:ext cx="3463636" cy="152400"/>
          </a:xfrm>
          <a:prstGeom xmlns:a="http://schemas.openxmlformats.org/drawingml/2006/main" prst="rect">
            <a:avLst/>
          </a:prstGeom>
        </p:spPr>
      </p:pic>
      <p:sp>
        <p:nvSpPr>
          <p:cNvPr id="15" name="0 至 0.093（98%分位截断）">
            <a:extLst xmlns:a="http://schemas.openxmlformats.org/drawingml/2006/main">
              <a:ext uri="{FF2B5EF4-FFF2-40B4-BE49-F238E27FC236}">
                <a16:creationId xmlns:a16="http://schemas.microsoft.com/office/drawing/2014/main" id="{E1E010C0-304D-4D25-9737-1F012E4B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625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 至 0.093（98%分位截断）</a:t>
            </a:r>
          </a:p>
        </p:txBody>
      </p:sp>
      <p:sp>
        <p:nvSpPr>
          <p:cNvPr id="16" name="全部验证图：C与误差的逐图平均Spearman约 −0.459">
            <a:extLst xmlns:a="http://schemas.openxmlformats.org/drawingml/2006/main">
              <a:ext uri="{FF2B5EF4-FFF2-40B4-BE49-F238E27FC236}">
                <a16:creationId xmlns:a16="http://schemas.microsoft.com/office/drawing/2014/main" id="{8106811F-3185-4573-B96A-CBA681B2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3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全部验证图：C与误差的逐图平均Spearman约 −0.459</a:t>
            </a:r>
          </a:p>
        </p:txBody>
      </p:sp>
    </p:spTree>
    <p:extLst>
      <p:ext uri="{BB962C8B-B14F-4D97-AF65-F5344CB8AC3E}">
        <p14:creationId xmlns:p14="http://schemas.microsoft.com/office/powerpoint/2010/main" val="261184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质量差与修改有益是两个判断问题">
            <a:extLst xmlns:a="http://schemas.openxmlformats.org/drawingml/2006/main">
              <a:ext uri="{FF2B5EF4-FFF2-40B4-BE49-F238E27FC236}">
                <a16:creationId xmlns:a16="http://schemas.microsoft.com/office/drawing/2014/main" id="{BB40536E-9D87-4AD7-87D3-F5112A01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质量差与修改有益是两个判断问题</a:t>
            </a:r>
          </a:p>
        </p:txBody>
      </p:sp>
      <p:sp>
        <p:nvSpPr>
          <p:cNvPr id="2" name="同一张图：当前误差和给定候选的修正方向并不等价">
            <a:extLst xmlns:a="http://schemas.openxmlformats.org/drawingml/2006/main">
              <a:ext uri="{FF2B5EF4-FFF2-40B4-BE49-F238E27FC236}">
                <a16:creationId xmlns:a16="http://schemas.microsoft.com/office/drawing/2014/main" id="{5F20DC56-48F6-42AD-88F5-8FFEC82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同一张图：当前误差和给定候选的修正方向并不等价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9D366486-CFA2-4532-B48F-9AD6513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ABC2C86B-57AE-475F-92F0-7F589A9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78592-777D-4F54-A9E1-D6DD56994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d3dbc3cbc4f1a"/>
          <a:stretch xmlns:a="http://schemas.openxmlformats.org/drawingml/2006/main"/>
        </p:blipFill>
        <p:spPr>
          <a:xfrm xmlns:a="http://schemas.openxmlformats.org/drawingml/2006/main">
            <a:off x="1236506" y="1562100"/>
            <a:ext cx="9680888" cy="4019550"/>
          </a:xfrm>
          <a:prstGeom xmlns:a="http://schemas.openxmlformats.org/drawingml/2006/main" prst="rect">
            <a:avLst/>
          </a:prstGeom>
        </p:spPr>
      </p:pic>
      <p:sp>
        <p:nvSpPr>
          <p:cNvPr id="6" name="具体动作的收益还取决于：修正方向、幅度，以及它与真实误差的关系">
            <a:extLst xmlns:a="http://schemas.openxmlformats.org/drawingml/2006/main">
              <a:ext uri="{FF2B5EF4-FFF2-40B4-BE49-F238E27FC236}">
                <a16:creationId xmlns:a16="http://schemas.microsoft.com/office/drawing/2014/main" id="{37F1D39D-C2DA-493D-8AD1-600E0711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具体动作的收益还取决于：修正方向、幅度，以及它与真实误差的关系</a:t>
            </a:r>
          </a:p>
        </p:txBody>
      </p:sp>
    </p:spTree>
    <p:extLst>
      <p:ext uri="{BB962C8B-B14F-4D97-AF65-F5344CB8AC3E}">
        <p14:creationId xmlns:p14="http://schemas.microsoft.com/office/powerpoint/2010/main" val="1415506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同一候选包含有效修正和有害修改">
            <a:extLst xmlns:a="http://schemas.openxmlformats.org/drawingml/2006/main">
              <a:ext uri="{FF2B5EF4-FFF2-40B4-BE49-F238E27FC236}">
                <a16:creationId xmlns:a16="http://schemas.microsoft.com/office/drawing/2014/main" id="{0D336512-5ACA-4F90-9827-AF0FE96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同一候选包含有效修正和有害修改</a:t>
            </a:r>
          </a:p>
        </p:txBody>
      </p:sp>
      <p:sp>
        <p:nvSpPr>
          <p:cNvPr id="2" name="真实案例的局部对照；裁剪仅解释现象">
            <a:extLst xmlns:a="http://schemas.openxmlformats.org/drawingml/2006/main">
              <a:ext uri="{FF2B5EF4-FFF2-40B4-BE49-F238E27FC236}">
                <a16:creationId xmlns:a16="http://schemas.microsoft.com/office/drawing/2014/main" id="{7FB5885C-3F93-4AD5-A420-7E346436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真实案例的局部对照；裁剪仅解释现象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01A99DE8-B43D-4273-8BE3-7D9C6822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9B89B1EA-B109-4A06-88B4-107A0A55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F26CA-CE0E-48E2-B6AB-B414BE359B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90cd38a964338"/>
          <a:stretch xmlns:a="http://schemas.openxmlformats.org/drawingml/2006/main"/>
        </p:blipFill>
        <p:spPr>
          <a:xfrm xmlns:a="http://schemas.openxmlformats.org/drawingml/2006/main">
            <a:off x="457200" y="2214810"/>
            <a:ext cx="3638550" cy="318085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3CFCF-3E38-4631-BE0F-BC5EFBD48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041c4b62e45fe"/>
          <a:stretch xmlns:a="http://schemas.openxmlformats.org/drawingml/2006/main"/>
        </p:blipFill>
        <p:spPr>
          <a:xfrm xmlns:a="http://schemas.openxmlformats.org/drawingml/2006/main">
            <a:off x="4633913" y="2076450"/>
            <a:ext cx="1704975" cy="1704975"/>
          </a:xfrm>
          <a:prstGeom xmlns:a="http://schemas.openxmlformats.org/drawingml/2006/main" prst="rect">
            <a:avLst/>
          </a:prstGeom>
        </p:spPr>
      </p:pic>
      <p:sp>
        <p:nvSpPr>
          <p:cNvPr id="7" name="T1">
            <a:extLst xmlns:a="http://schemas.openxmlformats.org/drawingml/2006/main">
              <a:ext uri="{FF2B5EF4-FFF2-40B4-BE49-F238E27FC236}">
                <a16:creationId xmlns:a16="http://schemas.microsoft.com/office/drawing/2014/main" id="{DBF02BC3-EA6F-4A1B-B563-3DD32FB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57350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40E9A-18F3-49C8-8AF1-7490BAA47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88cb6acdd4062"/>
          <a:stretch xmlns:a="http://schemas.openxmlformats.org/drawingml/2006/main"/>
        </p:blipFill>
        <p:spPr>
          <a:xfrm xmlns:a="http://schemas.openxmlformats.org/drawingml/2006/main">
            <a:off x="6919913" y="2076450"/>
            <a:ext cx="1704975" cy="1704975"/>
          </a:xfrm>
          <a:prstGeom xmlns:a="http://schemas.openxmlformats.org/drawingml/2006/main" prst="rect">
            <a:avLst/>
          </a:prstGeom>
        </p:spPr>
      </p:pic>
      <p:sp>
        <p:nvSpPr>
          <p:cNvPr id="9" name="候选U">
            <a:extLst xmlns:a="http://schemas.openxmlformats.org/drawingml/2006/main">
              <a:ext uri="{FF2B5EF4-FFF2-40B4-BE49-F238E27FC236}">
                <a16:creationId xmlns:a16="http://schemas.microsoft.com/office/drawing/2014/main" id="{16DC691B-25C1-45C7-9E11-3C2C9A3D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57350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候选U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523DC-5A8C-4E8B-80BA-78814200C5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61417702644aa"/>
          <a:stretch xmlns:a="http://schemas.openxmlformats.org/drawingml/2006/main"/>
        </p:blipFill>
        <p:spPr>
          <a:xfrm xmlns:a="http://schemas.openxmlformats.org/drawingml/2006/main">
            <a:off x="9205913" y="2076450"/>
            <a:ext cx="1704975" cy="1704975"/>
          </a:xfrm>
          <a:prstGeom xmlns:a="http://schemas.openxmlformats.org/drawingml/2006/main" prst="rect">
            <a:avLst/>
          </a:prstGeom>
        </p:spPr>
      </p:pic>
      <p:sp>
        <p:nvSpPr>
          <p:cNvPr id="11" name="GT">
            <a:extLst xmlns:a="http://schemas.openxmlformats.org/drawingml/2006/main">
              <a:ext uri="{FF2B5EF4-FFF2-40B4-BE49-F238E27FC236}">
                <a16:creationId xmlns:a16="http://schemas.microsoft.com/office/drawing/2014/main" id="{E713FCEA-27FD-453A-998C-94B27E18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57350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GT</a:t>
            </a:r>
          </a:p>
        </p:txBody>
      </p:sp>
      <p:sp>
        <p:nvSpPr>
          <p:cNvPr id="12" name="有益区域 · 原始MSE收益 2.56e-4">
            <a:extLst xmlns:a="http://schemas.openxmlformats.org/drawingml/2006/main">
              <a:ext uri="{FF2B5EF4-FFF2-40B4-BE49-F238E27FC236}">
                <a16:creationId xmlns:a16="http://schemas.microsoft.com/office/drawing/2014/main" id="{E0A9F32B-0C4C-480F-A60A-78979071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004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有益区域 · 原始MSE收益 2.56e-4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E5C0B-AB0F-4314-90CB-ED080A2CDD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03389a4ce4e4c"/>
          <a:stretch xmlns:a="http://schemas.openxmlformats.org/drawingml/2006/main"/>
        </p:blipFill>
        <p:spPr>
          <a:xfrm xmlns:a="http://schemas.openxmlformats.org/drawingml/2006/main">
            <a:off x="4633913" y="4067175"/>
            <a:ext cx="1704975" cy="1704975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BD288-C2EA-4971-8BFD-349638FD0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13b0adf204b78"/>
          <a:stretch xmlns:a="http://schemas.openxmlformats.org/drawingml/2006/main"/>
        </p:blipFill>
        <p:spPr>
          <a:xfrm xmlns:a="http://schemas.openxmlformats.org/drawingml/2006/main">
            <a:off x="6919913" y="4067175"/>
            <a:ext cx="1704975" cy="170497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64C58-654E-40FA-A6A9-1C8391717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3ae8c2b184d82"/>
          <a:stretch xmlns:a="http://schemas.openxmlformats.org/drawingml/2006/main"/>
        </p:blipFill>
        <p:spPr>
          <a:xfrm xmlns:a="http://schemas.openxmlformats.org/drawingml/2006/main">
            <a:off x="9205913" y="4067175"/>
            <a:ext cx="1704975" cy="1704975"/>
          </a:xfrm>
          <a:prstGeom xmlns:a="http://schemas.openxmlformats.org/drawingml/2006/main" prst="rect">
            <a:avLst/>
          </a:prstGeom>
        </p:spPr>
      </p:pic>
      <p:sp>
        <p:nvSpPr>
          <p:cNvPr id="16" name="有害区域 · 原始MSE收益 -2.15e-3">
            <a:extLst xmlns:a="http://schemas.openxmlformats.org/drawingml/2006/main">
              <a:ext uri="{FF2B5EF4-FFF2-40B4-BE49-F238E27FC236}">
                <a16:creationId xmlns:a16="http://schemas.microsoft.com/office/drawing/2014/main" id="{FF0B1DB8-B5C6-42F5-A5DB-DFBAFF0C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有害区域 · 原始MSE收益 -2.15e-3</a:t>
            </a:r>
          </a:p>
        </p:txBody>
      </p:sp>
    </p:spTree>
    <p:extLst>
      <p:ext uri="{BB962C8B-B14F-4D97-AF65-F5344CB8AC3E}">
        <p14:creationId xmlns:p14="http://schemas.microsoft.com/office/powerpoint/2010/main" val="1045811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局部潜力与实际输出之间仍有差距">
            <a:extLst xmlns:a="http://schemas.openxmlformats.org/drawingml/2006/main">
              <a:ext uri="{FF2B5EF4-FFF2-40B4-BE49-F238E27FC236}">
                <a16:creationId xmlns:a16="http://schemas.microsoft.com/office/drawing/2014/main" id="{D344A2DF-E718-40FD-8966-85C40B9E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局部潜力与实际输出之间仍有差距</a:t>
            </a:r>
          </a:p>
        </p:txBody>
      </p:sp>
      <p:sp>
        <p:nvSpPr>
          <p:cNvPr id="2" name="同图浮点收益、实际动作和真值理想参照分别展示">
            <a:extLst xmlns:a="http://schemas.openxmlformats.org/drawingml/2006/main">
              <a:ext uri="{FF2B5EF4-FFF2-40B4-BE49-F238E27FC236}">
                <a16:creationId xmlns:a16="http://schemas.microsoft.com/office/drawing/2014/main" id="{D0DF5D36-9020-4A95-A30C-BB8FD40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同图浮点收益、实际动作和真值理想参照分别展示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8A61E623-775B-4C2D-9EE8-09CE5198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E878C0A3-734C-4EEA-AB07-FD2816A4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1倍修正的真实MSE收益">
            <a:extLst xmlns:a="http://schemas.openxmlformats.org/drawingml/2006/main">
              <a:ext uri="{FF2B5EF4-FFF2-40B4-BE49-F238E27FC236}">
                <a16:creationId xmlns:a16="http://schemas.microsoft.com/office/drawing/2014/main" id="{E3027220-BA70-41E5-B717-2802D429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354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1倍修正的真实MSE收益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D40E2-4089-42DC-8B01-E75E7A0E6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d33a1696a4fa1"/>
          <a:stretch xmlns:a="http://schemas.openxmlformats.org/drawingml/2006/main"/>
        </p:blipFill>
        <p:spPr>
          <a:xfrm xmlns:a="http://schemas.openxmlformats.org/drawingml/2006/main">
            <a:off x="458428" y="2009775"/>
            <a:ext cx="3540844" cy="2962275"/>
          </a:xfrm>
          <a:prstGeom xmlns:a="http://schemas.openxmlformats.org/drawingml/2006/main" prst="rect">
            <a:avLst/>
          </a:prstGeom>
        </p:spPr>
      </p:pic>
      <p:sp>
        <p:nvSpPr>
          <p:cNvPr id="7" name="实际动作 M：全为0">
            <a:extLst xmlns:a="http://schemas.openxmlformats.org/drawingml/2006/main">
              <a:ext uri="{FF2B5EF4-FFF2-40B4-BE49-F238E27FC236}">
                <a16:creationId xmlns:a16="http://schemas.microsoft.com/office/drawing/2014/main" id="{EFD5B59C-0FB1-4089-BD6F-7B8E12B3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52575"/>
            <a:ext cx="354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实际动作 M：全为0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9E648-5B43-4009-AF78-6F651E7D0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e42ca785644bd"/>
          <a:stretch xmlns:a="http://schemas.openxmlformats.org/drawingml/2006/main"/>
        </p:blipFill>
        <p:spPr>
          <a:xfrm xmlns:a="http://schemas.openxmlformats.org/drawingml/2006/main">
            <a:off x="4268428" y="2009775"/>
            <a:ext cx="3540844" cy="2962275"/>
          </a:xfrm>
          <a:prstGeom xmlns:a="http://schemas.openxmlformats.org/drawingml/2006/main" prst="rect">
            <a:avLst/>
          </a:prstGeom>
        </p:spPr>
      </p:pic>
      <p:sp>
        <p:nvSpPr>
          <p:cNvPr id="9" name="GT理想动作：不可部署">
            <a:extLst xmlns:a="http://schemas.openxmlformats.org/drawingml/2006/main">
              <a:ext uri="{FF2B5EF4-FFF2-40B4-BE49-F238E27FC236}">
                <a16:creationId xmlns:a16="http://schemas.microsoft.com/office/drawing/2014/main" id="{260CD729-79EE-459B-AD9E-3D1AA14C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52575"/>
            <a:ext cx="354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GT理想动作：不可部署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89327-38C6-4416-939E-0623DA493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1410f85da4ce3"/>
          <a:stretch xmlns:a="http://schemas.openxmlformats.org/drawingml/2006/main"/>
        </p:blipFill>
        <p:spPr>
          <a:xfrm xmlns:a="http://schemas.openxmlformats.org/drawingml/2006/main">
            <a:off x="8078428" y="2009775"/>
            <a:ext cx="3540844" cy="29622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2C1F6-3C44-4128-9BDD-96B001C01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7ad172d664df1"/>
          <a:stretch xmlns:a="http://schemas.openxmlformats.org/drawingml/2006/main"/>
        </p:blipFill>
        <p:spPr>
          <a:xfrm xmlns:a="http://schemas.openxmlformats.org/drawingml/2006/main">
            <a:off x="497032" y="5143500"/>
            <a:ext cx="3463636" cy="152400"/>
          </a:xfrm>
          <a:prstGeom xmlns:a="http://schemas.openxmlformats.org/drawingml/2006/main" prst="rect">
            <a:avLst/>
          </a:prstGeom>
        </p:spPr>
      </p:pic>
      <p:sp>
        <p:nvSpPr>
          <p:cNvPr id="12" name="红：改坏     0     蓝：修好">
            <a:extLst xmlns:a="http://schemas.openxmlformats.org/drawingml/2006/main">
              <a:ext uri="{FF2B5EF4-FFF2-40B4-BE49-F238E27FC236}">
                <a16:creationId xmlns:a16="http://schemas.microsoft.com/office/drawing/2014/main" id="{C21B5EC2-E3D8-4B65-BE1F-6BA92C83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3543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红：改坏     0     蓝：修好</a:t>
            </a:r>
          </a:p>
        </p:txBody>
      </p:sp>
      <p:sp>
        <p:nvSpPr>
          <p:cNvPr id="13" name="最终T2严格等于T1">
            <a:extLst xmlns:a="http://schemas.openxmlformats.org/drawingml/2006/main">
              <a:ext uri="{FF2B5EF4-FFF2-40B4-BE49-F238E27FC236}">
                <a16:creationId xmlns:a16="http://schemas.microsoft.com/office/drawing/2014/main" id="{B8BF966B-C332-465F-B648-54B9C5A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3543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最终T2严格等于T1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8B3D1-E3F9-4C4A-8E9D-4747527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</a:ln>
        </p:spPr>
      </p:sp>
      <p:sp>
        <p:nvSpPr>
          <p:cNvPr id="15" name="0">
            <a:extLst xmlns:a="http://schemas.openxmlformats.org/drawingml/2006/main">
              <a:ext uri="{FF2B5EF4-FFF2-40B4-BE49-F238E27FC236}">
                <a16:creationId xmlns:a16="http://schemas.microsoft.com/office/drawing/2014/main" id="{2B5DB4DC-F65F-4349-9D31-227464A4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34000"/>
            <a:ext cx="819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13DD1-0320-4179-8263-A9F8231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143500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48B"/>
          </a:solidFill>
          <a:ln xmlns:a="http://schemas.openxmlformats.org/drawingml/2006/main" w="0">
            <a:noFill/>
          </a:ln>
        </p:spPr>
      </p:sp>
      <p:sp>
        <p:nvSpPr>
          <p:cNvPr id="17" name=".25">
            <a:extLst xmlns:a="http://schemas.openxmlformats.org/drawingml/2006/main">
              <a:ext uri="{FF2B5EF4-FFF2-40B4-BE49-F238E27FC236}">
                <a16:creationId xmlns:a16="http://schemas.microsoft.com/office/drawing/2014/main" id="{35DE2317-8695-43A8-9937-13DCD537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334000"/>
            <a:ext cx="819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.25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11CD6-DE76-40FB-8A85-8F656F6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43500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B2A"/>
          </a:solidFill>
          <a:ln xmlns:a="http://schemas.openxmlformats.org/drawingml/2006/main" w="0">
            <a:noFill/>
          </a:ln>
        </p:spPr>
      </p:sp>
      <p:sp>
        <p:nvSpPr>
          <p:cNvPr id="19" name=".5">
            <a:extLst xmlns:a="http://schemas.openxmlformats.org/drawingml/2006/main">
              <a:ext uri="{FF2B5EF4-FFF2-40B4-BE49-F238E27FC236}">
                <a16:creationId xmlns:a16="http://schemas.microsoft.com/office/drawing/2014/main" id="{44F6F60A-9F66-41C9-ACF3-A2B753D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334000"/>
            <a:ext cx="819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D369D-4312-4322-8272-E93AF3D6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143500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F43"/>
          </a:solidFill>
          <a:ln xmlns:a="http://schemas.openxmlformats.org/drawingml/2006/main" w="0">
            <a:noFill/>
          </a:ln>
        </p:spPr>
      </p:sp>
      <p:sp>
        <p:nvSpPr>
          <p:cNvPr id="21" name="1">
            <a:extLst xmlns:a="http://schemas.openxmlformats.org/drawingml/2006/main">
              <a:ext uri="{FF2B5EF4-FFF2-40B4-BE49-F238E27FC236}">
                <a16:creationId xmlns:a16="http://schemas.microsoft.com/office/drawing/2014/main" id="{ADCF4F09-7E31-414F-AC1C-D65976A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334000"/>
            <a:ext cx="819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完整验证：最终 +0.000 dB；候选 −0.017 dB；GT选择">
            <a:extLst xmlns:a="http://schemas.openxmlformats.org/drawingml/2006/main">
              <a:ext uri="{FF2B5EF4-FFF2-40B4-BE49-F238E27FC236}">
                <a16:creationId xmlns:a16="http://schemas.microsoft.com/office/drawing/2014/main" id="{EC6169AD-2488-4F30-A852-2909C012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388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完整验证：最终 +0.000 dB；候选 −0.017 dB；GT选择4×4 +0.256 dB</a:t>
            </a:r>
          </a:p>
        </p:txBody>
      </p:sp>
    </p:spTree>
    <p:extLst>
      <p:ext uri="{BB962C8B-B14F-4D97-AF65-F5344CB8AC3E}">
        <p14:creationId xmlns:p14="http://schemas.microsoft.com/office/powerpoint/2010/main" val="1883732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AB715-F00E-4D58-B1AC-B6E8130D6F3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20125" y="2600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B94C5-A710-46D6-A73B-D6DD0CA8EBD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62600" y="260032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2E4F4-22AE-4C8E-8882-E9F45261CEE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0325" y="260032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sp>
        <p:nvSpPr>
          <p:cNvPr id="19" name="区域保护需要判断具体修正的收益">
            <a:extLst xmlns:a="http://schemas.openxmlformats.org/drawingml/2006/main">
              <a:ext uri="{FF2B5EF4-FFF2-40B4-BE49-F238E27FC236}">
                <a16:creationId xmlns:a16="http://schemas.microsoft.com/office/drawing/2014/main" id="{94E50BAE-AFFC-48F3-A00F-4101D525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区域保护需要判断具体修正的收益</a:t>
            </a:r>
          </a:p>
        </p:txBody>
      </p:sp>
      <p:sp>
        <p:nvSpPr>
          <p:cNvPr id="2" name="候选U固定，局部选0 / 0.25 / 0.5 / 1倍修正">
            <a:extLst xmlns:a="http://schemas.openxmlformats.org/drawingml/2006/main">
              <a:ext uri="{FF2B5EF4-FFF2-40B4-BE49-F238E27FC236}">
                <a16:creationId xmlns:a16="http://schemas.microsoft.com/office/drawing/2014/main" id="{E819BB49-FABD-4AF0-8D6E-E860990D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候选U固定，局部选0 / 0.25 / 0.5 / 1倍修正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8DD14FC5-F6DA-4C98-B473-541D607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BE6EB8B5-0DCB-4D0B-B467-370E6FC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候选增量 Δ&#10;与T1/观测/特征">
            <a:extLst xmlns:a="http://schemas.openxmlformats.org/drawingml/2006/main">
              <a:ext uri="{FF2B5EF4-FFF2-40B4-BE49-F238E27FC236}">
                <a16:creationId xmlns:a16="http://schemas.microsoft.com/office/drawing/2014/main" id="{69287553-568F-423F-9750-632B548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214312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候选增量 Δ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与T1/观测/特征</a:t>
            </a:r>
          </a:p>
        </p:txBody>
      </p:sp>
      <p:sp>
        <p:nvSpPr>
          <p:cNvPr id="6" name="动作成本预测&#10;三个非零动作">
            <a:extLst xmlns:a="http://schemas.openxmlformats.org/drawingml/2006/main">
              <a:ext uri="{FF2B5EF4-FFF2-40B4-BE49-F238E27FC236}">
                <a16:creationId xmlns:a16="http://schemas.microsoft.com/office/drawing/2014/main" id="{385E69D4-7429-4D02-93A7-FCDA538E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66925"/>
            <a:ext cx="2286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CF0ED"/>
          </a:solidFill>
          <a:ln xmlns:a="http://schemas.openxmlformats.org/drawingml/2006/main" w="13335">
            <a:solidFill>
              <a:srgbClr val="B94F43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动作成本预测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三个非零动作</a:t>
            </a:r>
          </a:p>
        </p:txBody>
      </p:sp>
      <p:sp>
        <p:nvSpPr>
          <p:cNvPr id="7" name="偏差与安全校准&#10;argmin选择M">
            <a:extLst xmlns:a="http://schemas.openxmlformats.org/drawingml/2006/main">
              <a:ext uri="{FF2B5EF4-FFF2-40B4-BE49-F238E27FC236}">
                <a16:creationId xmlns:a16="http://schemas.microsoft.com/office/drawing/2014/main" id="{F918DD4C-04B2-4859-AD8F-5A44335F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66925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偏差与安全校准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argmin选择M</a:t>
            </a:r>
          </a:p>
        </p:txBody>
      </p:sp>
      <p:sp>
        <p:nvSpPr>
          <p:cNvPr id="8" name="T2=T1+MΔ&#10;M=0严格复制T1">
            <a:extLst xmlns:a="http://schemas.openxmlformats.org/drawingml/2006/main">
              <a:ext uri="{FF2B5EF4-FFF2-40B4-BE49-F238E27FC236}">
                <a16:creationId xmlns:a16="http://schemas.microsoft.com/office/drawing/2014/main" id="{C58E24E3-4B7A-4F84-B41A-01C0CF87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66925"/>
            <a:ext cx="233362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T2=T1+MΔ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M=0严格复制T1</a:t>
            </a:r>
          </a:p>
        </p:txBody>
      </p:sp>
      <p:sp>
        <p:nvSpPr>
          <p:cNvPr id="12" name="质量 C">
            <a:extLst xmlns:a="http://schemas.openxmlformats.org/drawingml/2006/main">
              <a:ext uri="{FF2B5EF4-FFF2-40B4-BE49-F238E27FC236}">
                <a16:creationId xmlns:a16="http://schemas.microsoft.com/office/drawing/2014/main" id="{C6702C2A-A73D-4848-9881-209418CF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质量 C</a:t>
            </a:r>
          </a:p>
        </p:txBody>
      </p:sp>
      <p:sp>
        <p:nvSpPr>
          <p:cNvPr id="13" name="第一轮哪里质量差">
            <a:extLst xmlns:a="http://schemas.openxmlformats.org/drawingml/2006/main">
              <a:ext uri="{FF2B5EF4-FFF2-40B4-BE49-F238E27FC236}">
                <a16:creationId xmlns:a16="http://schemas.microsoft.com/office/drawing/2014/main" id="{6CA54A01-23A0-4773-8CC5-3C805EE7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第一轮哪里质量差</a:t>
            </a:r>
          </a:p>
        </p:txBody>
      </p:sp>
      <p:sp>
        <p:nvSpPr>
          <p:cNvPr id="14" name="修复需求 Q">
            <a:extLst xmlns:a="http://schemas.openxmlformats.org/drawingml/2006/main">
              <a:ext uri="{FF2B5EF4-FFF2-40B4-BE49-F238E27FC236}">
                <a16:creationId xmlns:a16="http://schemas.microsoft.com/office/drawing/2014/main" id="{273DAAC3-2D9E-4D77-8793-E55799F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38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修复需求 Q</a:t>
            </a:r>
          </a:p>
        </p:txBody>
      </p:sp>
      <p:sp>
        <p:nvSpPr>
          <p:cNvPr id="15" name="哪里可能需要再处理">
            <a:extLst xmlns:a="http://schemas.openxmlformats.org/drawingml/2006/main">
              <a:ext uri="{FF2B5EF4-FFF2-40B4-BE49-F238E27FC236}">
                <a16:creationId xmlns:a16="http://schemas.microsoft.com/office/drawing/2014/main" id="{D8815A8A-9583-4550-B8A7-FC765EB7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72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哪里可能需要再处理</a:t>
            </a:r>
          </a:p>
        </p:txBody>
      </p:sp>
      <p:sp>
        <p:nvSpPr>
          <p:cNvPr id="16" name="动作成本">
            <a:extLst xmlns:a="http://schemas.openxmlformats.org/drawingml/2006/main">
              <a:ext uri="{FF2B5EF4-FFF2-40B4-BE49-F238E27FC236}">
                <a16:creationId xmlns:a16="http://schemas.microsoft.com/office/drawing/2014/main" id="{DC78B185-64D4-4C95-94C0-59ABEB3D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动作成本</a:t>
            </a:r>
          </a:p>
        </p:txBody>
      </p:sp>
      <p:sp>
        <p:nvSpPr>
          <p:cNvPr id="17" name="这一次修改能否降低误差">
            <a:extLst xmlns:a="http://schemas.openxmlformats.org/drawingml/2006/main">
              <a:ext uri="{FF2B5EF4-FFF2-40B4-BE49-F238E27FC236}">
                <a16:creationId xmlns:a16="http://schemas.microsoft.com/office/drawing/2014/main" id="{E2E3BA1F-B9AC-4B3C-A176-A65AFBC2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这一次修改能否降低误差</a:t>
            </a:r>
          </a:p>
        </p:txBody>
      </p:sp>
      <p:sp>
        <p:nvSpPr>
          <p:cNvPr id="18" name="GT只构造训练标签。推理时，判断必须依据可观测信息">
            <a:extLst xmlns:a="http://schemas.openxmlformats.org/drawingml/2006/main">
              <a:ext uri="{FF2B5EF4-FFF2-40B4-BE49-F238E27FC236}">
                <a16:creationId xmlns:a16="http://schemas.microsoft.com/office/drawing/2014/main" id="{E918DCC9-67FC-4408-BD19-CF92123A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GT只构造训练标签。推理时，判断必须依据可观测信息</a:t>
            </a:r>
          </a:p>
        </p:txBody>
      </p:sp>
    </p:spTree>
    <p:extLst>
      <p:ext uri="{BB962C8B-B14F-4D97-AF65-F5344CB8AC3E}">
        <p14:creationId xmlns:p14="http://schemas.microsoft.com/office/powerpoint/2010/main" val="787776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判断头尚未学到可靠的收益排序">
            <a:extLst xmlns:a="http://schemas.openxmlformats.org/drawingml/2006/main">
              <a:ext uri="{FF2B5EF4-FFF2-40B4-BE49-F238E27FC236}">
                <a16:creationId xmlns:a16="http://schemas.microsoft.com/office/drawing/2014/main" id="{97F62CF4-341D-46BF-9306-95662D38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判断头尚未学到可靠的收益排序</a:t>
            </a:r>
          </a:p>
        </p:txBody>
      </p:sp>
      <p:sp>
        <p:nvSpPr>
          <p:cNvPr id="2" name="近零相关与训练监测，分别检查排序和拟合">
            <a:extLst xmlns:a="http://schemas.openxmlformats.org/drawingml/2006/main">
              <a:ext uri="{FF2B5EF4-FFF2-40B4-BE49-F238E27FC236}">
                <a16:creationId xmlns:a16="http://schemas.microsoft.com/office/drawing/2014/main" id="{958E1517-3E2C-46DF-920E-798AE0EE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近零相关与训练监测，分别检查排序和拟合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746B1B23-E8A2-4766-AA9D-31D46FB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26D17B79-94BA-42B6-9CD7-5419198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A0543CC-8A0A-49BD-B8B3-69A39F3CDE8E}"/>
              </a:ext>
            </a:extLst>
          </p:cNvPr>
          <p:cNvGraphicFramePr/>
          <p:nvPr/>
        </p:nvGraphicFramePr>
        <p:xfrm>
          <a:off xmlns:a="http://schemas.openxmlformats.org/drawingml/2006/main" x="457200" y="1914525"/>
          <a:ext xmlns:a="http://schemas.openxmlformats.org/drawingml/2006/main" cx="615315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852f2c1eb3493e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09F526B-1622-4EEC-BF0A-34174B44F6A0}"/>
              </a:ext>
            </a:extLst>
          </p:cNvPr>
          <p:cNvGraphicFramePr/>
          <p:nvPr/>
        </p:nvGraphicFramePr>
        <p:xfrm>
          <a:off xmlns:a="http://schemas.openxmlformats.org/drawingml/2006/main" x="7219950" y="1914525"/>
          <a:ext xmlns:a="http://schemas.openxmlformats.org/drawingml/2006/main" cx="436245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88bda8cc744980"/>
          </a:graphicData>
        </a:graphic>
      </p:graphicFrame>
      <p:sp>
        <p:nvSpPr>
          <p:cNvPr id="7" name="逐图平均收益Spearman">
            <a:extLst xmlns:a="http://schemas.openxmlformats.org/drawingml/2006/main">
              <a:ext uri="{FF2B5EF4-FFF2-40B4-BE49-F238E27FC236}">
                <a16:creationId xmlns:a16="http://schemas.microsoft.com/office/drawing/2014/main" id="{3F1F7B34-0F9C-4890-94F0-C888B459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逐图平均收益Spearman</a:t>
            </a:r>
          </a:p>
        </p:txBody>
      </p:sp>
      <p:sp>
        <p:nvSpPr>
          <p:cNvPr id="8" name="固定32裁剪成本损失">
            <a:extLst xmlns:a="http://schemas.openxmlformats.org/drawingml/2006/main">
              <a:ext uri="{FF2B5EF4-FFF2-40B4-BE49-F238E27FC236}">
                <a16:creationId xmlns:a16="http://schemas.microsoft.com/office/drawing/2014/main" id="{34BC1741-9174-49E6-8C44-C0CA000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485900"/>
            <a:ext cx="436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固定32裁剪成本损失</a:t>
            </a:r>
          </a:p>
        </p:txBody>
      </p:sp>
      <p:sp>
        <p:nvSpPr>
          <p:cNvPr id="9" name="3000步的冻结监测通过，但它没有证明判断训练已经收敛">
            <a:extLst xmlns:a="http://schemas.openxmlformats.org/drawingml/2006/main">
              <a:ext uri="{FF2B5EF4-FFF2-40B4-BE49-F238E27FC236}">
                <a16:creationId xmlns:a16="http://schemas.microsoft.com/office/drawing/2014/main" id="{B58A640D-E230-4F5F-A8C2-236F22E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3000步的冻结监测通过，但它没有证明判断训练已经收敛</a:t>
            </a:r>
          </a:p>
        </p:txBody>
      </p:sp>
    </p:spTree>
    <p:extLst>
      <p:ext uri="{BB962C8B-B14F-4D97-AF65-F5344CB8AC3E}">
        <p14:creationId xmlns:p14="http://schemas.microsoft.com/office/powerpoint/2010/main" val="525858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全拒绝来自失败的风险覆盖关系">
            <a:extLst xmlns:a="http://schemas.openxmlformats.org/drawingml/2006/main">
              <a:ext uri="{FF2B5EF4-FFF2-40B4-BE49-F238E27FC236}">
                <a16:creationId xmlns:a16="http://schemas.microsoft.com/office/drawing/2014/main" id="{8AE594D9-5FEE-45B3-9629-C086650C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全拒绝来自失败的风险覆盖关系</a:t>
            </a:r>
          </a:p>
        </p:txBody>
      </p:sp>
      <p:sp>
        <p:nvSpPr>
          <p:cNvPr id="2" name="门槛越来越严格，接受的修改却没有变得更可靠">
            <a:extLst xmlns:a="http://schemas.openxmlformats.org/drawingml/2006/main">
              <a:ext uri="{FF2B5EF4-FFF2-40B4-BE49-F238E27FC236}">
                <a16:creationId xmlns:a16="http://schemas.microsoft.com/office/drawing/2014/main" id="{C9475D1D-A30C-4006-834E-953BD22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门槛越来越严格，接受的修改却没有变得更可靠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BDDB6595-5D52-4A9C-BC33-C1727B84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53059814-42A2-492B-8BF0-D7DADDAA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2DB4DD0-B589-42E9-8CB5-813C9B71F9DC}"/>
              </a:ext>
            </a:extLst>
          </p:cNvPr>
          <p:cNvGraphicFramePr/>
          <p:nvPr/>
        </p:nvGraphicFramePr>
        <p:xfrm>
          <a:off xmlns:a="http://schemas.openxmlformats.org/drawingml/2006/main" x="457200" y="1971675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0dae84addb499f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867E12B-60F4-4BD1-8D2C-D011953A4E3A}"/>
              </a:ext>
            </a:extLst>
          </p:cNvPr>
          <p:cNvGraphicFramePr/>
          <p:nvPr/>
        </p:nvGraphicFramePr>
        <p:xfrm>
          <a:off xmlns:a="http://schemas.openxmlformats.org/drawingml/2006/main" x="6343650" y="1971675"/>
          <a:ext xmlns:a="http://schemas.openxmlformats.org/drawingml/2006/main" cx="52578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988368bb1a4ab9"/>
          </a:graphicData>
        </a:graphic>
      </p:graphicFrame>
      <p:sp>
        <p:nvSpPr>
          <p:cNvPr id="7" name="接受区域比例（%）">
            <a:extLst xmlns:a="http://schemas.openxmlformats.org/drawingml/2006/main">
              <a:ext uri="{FF2B5EF4-FFF2-40B4-BE49-F238E27FC236}">
                <a16:creationId xmlns:a16="http://schemas.microsoft.com/office/drawing/2014/main" id="{71FAF7C2-E919-4DE7-8211-6F103BC8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接受区域比例（%）</a:t>
            </a:r>
          </a:p>
        </p:txBody>
      </p:sp>
      <p:sp>
        <p:nvSpPr>
          <p:cNvPr id="8" name="接受中明显有害比例（%）">
            <a:extLst xmlns:a="http://schemas.openxmlformats.org/drawingml/2006/main">
              <a:ext uri="{FF2B5EF4-FFF2-40B4-BE49-F238E27FC236}">
                <a16:creationId xmlns:a16="http://schemas.microsoft.com/office/drawing/2014/main" id="{99129936-72CE-4F6E-B915-F863492E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95425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接受中明显有害比例（%）</a:t>
            </a:r>
          </a:p>
        </p:txBody>
      </p:sp>
      <p:sp>
        <p:nvSpPr>
          <p:cNvPr id="9" name="横轴：训练内部安全门槛；1.6为零覆盖，接受风险无样本可算">
            <a:extLst xmlns:a="http://schemas.openxmlformats.org/drawingml/2006/main">
              <a:ext uri="{FF2B5EF4-FFF2-40B4-BE49-F238E27FC236}">
                <a16:creationId xmlns:a16="http://schemas.microsoft.com/office/drawing/2014/main" id="{C68B3622-C31C-4C5B-9DC5-0F753CE8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横轴：训练内部安全门槛；1.6为零覆盖，接受风险无样本可算</a:t>
            </a:r>
          </a:p>
        </p:txBody>
      </p:sp>
      <p:sp>
        <p:nvSpPr>
          <p:cNvPr id="10" name="最终1060张T2=T1，循环收益为0。保护规则执行正确，纠错目标未实">
            <a:extLst xmlns:a="http://schemas.openxmlformats.org/drawingml/2006/main">
              <a:ext uri="{FF2B5EF4-FFF2-40B4-BE49-F238E27FC236}">
                <a16:creationId xmlns:a16="http://schemas.microsoft.com/office/drawing/2014/main" id="{F02C2DAD-C466-497F-A3AF-DCA5969C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1123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最终1060张T2=T1，循环收益为0。保护规则执行正确，纠错目标未实现</a:t>
            </a:r>
          </a:p>
        </p:txBody>
      </p:sp>
    </p:spTree>
    <p:extLst>
      <p:ext uri="{BB962C8B-B14F-4D97-AF65-F5344CB8AC3E}">
        <p14:creationId xmlns:p14="http://schemas.microsoft.com/office/powerpoint/2010/main" val="681573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保留浮点之后，仍有训练条件上的差别">
            <a:extLst xmlns:a="http://schemas.openxmlformats.org/drawingml/2006/main">
              <a:ext uri="{FF2B5EF4-FFF2-40B4-BE49-F238E27FC236}">
                <a16:creationId xmlns:a16="http://schemas.microsoft.com/office/drawing/2014/main" id="{01D25557-3B48-4FB9-83C3-557AD70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保留浮点之后，仍有训练条件上的差别</a:t>
            </a:r>
          </a:p>
        </p:txBody>
      </p:sp>
      <p:sp>
        <p:nvSpPr>
          <p:cNvPr id="2" name="区域抵消问题存在，单独补7个统计通道尚未显示收益">
            <a:extLst xmlns:a="http://schemas.openxmlformats.org/drawingml/2006/main">
              <a:ext uri="{FF2B5EF4-FFF2-40B4-BE49-F238E27FC236}">
                <a16:creationId xmlns:a16="http://schemas.microsoft.com/office/drawing/2014/main" id="{550EF1F4-A981-4385-9D2D-AB5CB43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区域抵消问题存在，单独补7个统计通道尚未显示收益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5B7AA5DD-6A02-408E-A85C-A4E51B9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71FB6C0D-AEE7-42AB-80EA-88B4B5E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3CA9452-7788-4AFD-9DD1-AA0A841C4993}"/>
              </a:ext>
            </a:extLst>
          </p:cNvPr>
          <p:cNvGraphicFramePr/>
          <p:nvPr/>
        </p:nvGraphicFramePr>
        <p:xfrm>
          <a:off xmlns:a="http://schemas.openxmlformats.org/drawingml/2006/main" x="457200" y="1952625"/>
          <a:ext xmlns:a="http://schemas.openxmlformats.org/drawingml/2006/main" cx="6762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ba34df0cf34617"/>
          </a:graphicData>
        </a:graphic>
      </p:graphicFrame>
      <p:sp>
        <p:nvSpPr>
          <p:cNvPr id="6" name="输入量级：log10(标准差)">
            <a:extLst xmlns:a="http://schemas.openxmlformats.org/drawingml/2006/main">
              <a:ext uri="{FF2B5EF4-FFF2-40B4-BE49-F238E27FC236}">
                <a16:creationId xmlns:a16="http://schemas.microsoft.com/office/drawing/2014/main" id="{8A63C690-112C-44C8-9A47-15EE0A7E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输入量级：log10(标准差)</a:t>
            </a:r>
          </a:p>
        </p:txBody>
      </p:sp>
      <p:sp>
        <p:nvSpPr>
          <p:cNvPr id="7" name="约1000倍">
            <a:extLst xmlns:a="http://schemas.openxmlformats.org/drawingml/2006/main">
              <a:ext uri="{FF2B5EF4-FFF2-40B4-BE49-F238E27FC236}">
                <a16:creationId xmlns:a16="http://schemas.microsoft.com/office/drawing/2014/main" id="{DBA16FDE-4823-49E1-8A91-25B6894F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562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约1000倍</a:t>
            </a:r>
          </a:p>
        </p:txBody>
      </p:sp>
      <p:sp>
        <p:nvSpPr>
          <p:cNvPr id="8" name="任务特征与增量平方统计&#10;的标准差量级差">
            <a:extLst xmlns:a="http://schemas.openxmlformats.org/drawingml/2006/main">
              <a:ext uri="{FF2B5EF4-FFF2-40B4-BE49-F238E27FC236}">
                <a16:creationId xmlns:a16="http://schemas.microsoft.com/office/drawing/2014/main" id="{0EA24556-1917-47BE-A0D7-32DDAECA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3562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任务特征与增量平方统计</a:t>
            </a:r>
          </a:p>
          <a:p xmlns:a="http://schemas.openxmlformats.org/drawingml/2006/main">
            <a:pPr algn="l">
              <a:def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的标准差量级差</a:t>
            </a:r>
          </a:p>
        </p:txBody>
      </p:sp>
      <p:sp>
        <p:nvSpPr>
          <p:cNvPr id="9" name="诊断ridge：每列标准化&#10;正式判断头：直接拼接">
            <a:extLst xmlns:a="http://schemas.openxmlformats.org/drawingml/2006/main">
              <a:ext uri="{FF2B5EF4-FFF2-40B4-BE49-F238E27FC236}">
                <a16:creationId xmlns:a16="http://schemas.microsoft.com/office/drawing/2014/main" id="{897C52D5-640C-49D7-BF1B-97B5B56F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35623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诊断ridge：每列标准化</a:t>
            </a:r>
          </a:p>
          <a:p xmlns:a="http://schemas.openxmlformats.org/drawingml/2006/main">
            <a:pPr algn="l">
              <a:def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正式判断头：直接拼接</a:t>
            </a:r>
          </a:p>
        </p:txBody>
      </p:sp>
      <p:sp>
        <p:nvSpPr>
          <p:cNvPr id="10" name="旧表示诊断仍更好；信息保留问题尚不能认定为唯一根因">
            <a:extLst xmlns:a="http://schemas.openxmlformats.org/drawingml/2006/main">
              <a:ext uri="{FF2B5EF4-FFF2-40B4-BE49-F238E27FC236}">
                <a16:creationId xmlns:a16="http://schemas.microsoft.com/office/drawing/2014/main" id="{6182EEE1-0386-404E-BC72-9B3F9F55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1123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旧表示诊断仍更好；信息保留问题尚不能认定为唯一根因</a:t>
            </a:r>
          </a:p>
        </p:txBody>
      </p:sp>
    </p:spTree>
    <p:extLst>
      <p:ext uri="{BB962C8B-B14F-4D97-AF65-F5344CB8AC3E}">
        <p14:creationId xmlns:p14="http://schemas.microsoft.com/office/powerpoint/2010/main" val="432835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技术审查中最值得先验证的地方">
            <a:extLst xmlns:a="http://schemas.openxmlformats.org/drawingml/2006/main">
              <a:ext uri="{FF2B5EF4-FFF2-40B4-BE49-F238E27FC236}">
                <a16:creationId xmlns:a16="http://schemas.microsoft.com/office/drawing/2014/main" id="{B36BE4A1-EA98-4650-9952-2749FCFA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技术审查中最值得先验证的地方</a:t>
            </a:r>
          </a:p>
        </p:txBody>
      </p:sp>
      <p:sp>
        <p:nvSpPr>
          <p:cNvPr id="2" name="下面是确认的设计事实，尚未证明各自造成了多少性能损失">
            <a:extLst xmlns:a="http://schemas.openxmlformats.org/drawingml/2006/main">
              <a:ext uri="{FF2B5EF4-FFF2-40B4-BE49-F238E27FC236}">
                <a16:creationId xmlns:a16="http://schemas.microsoft.com/office/drawing/2014/main" id="{B4951493-66D6-46A2-AFC5-347E26F8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下面是确认的设计事实，尚未证明各自造成了多少性能损失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2FCF9705-0A3D-48E2-82C9-5A6D26A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EBC6DCFF-8F45-48FB-A7CE-1CDBFE38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输入量级">
            <a:extLst xmlns:a="http://schemas.openxmlformats.org/drawingml/2006/main">
              <a:ext uri="{FF2B5EF4-FFF2-40B4-BE49-F238E27FC236}">
                <a16:creationId xmlns:a16="http://schemas.microsoft.com/office/drawing/2014/main" id="{984FB80C-8909-40A8-8F8B-87FA9E77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0497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输入量级</a:t>
            </a:r>
          </a:p>
        </p:txBody>
      </p:sp>
      <p:sp>
        <p:nvSpPr>
          <p:cNvPr id="6" name="诊断与正式网络使用不同的归一化条件">
            <a:extLst xmlns:a="http://schemas.openxmlformats.org/drawingml/2006/main">
              <a:ext uri="{FF2B5EF4-FFF2-40B4-BE49-F238E27FC236}">
                <a16:creationId xmlns:a16="http://schemas.microsoft.com/office/drawing/2014/main" id="{EFFFFDFB-E6F5-44AE-A88B-7BFF0AC7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3381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诊断与正式网络使用不同的归一化条件</a:t>
            </a:r>
          </a:p>
        </p:txBody>
      </p:sp>
      <p:sp>
        <p:nvSpPr>
          <p:cNvPr id="7" name="混合目标">
            <a:extLst xmlns:a="http://schemas.openxmlformats.org/drawingml/2006/main">
              <a:ext uri="{FF2B5EF4-FFF2-40B4-BE49-F238E27FC236}">
                <a16:creationId xmlns:a16="http://schemas.microsoft.com/office/drawing/2014/main" id="{3E27A807-2BD6-4FF4-A7E1-A6FED535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049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混合目标</a:t>
            </a:r>
          </a:p>
        </p:txBody>
      </p:sp>
      <p:sp>
        <p:nvSpPr>
          <p:cNvPr id="8" name="成本预测完全准确时，策略项仍推动输出改变">
            <a:extLst xmlns:a="http://schemas.openxmlformats.org/drawingml/2006/main">
              <a:ext uri="{FF2B5EF4-FFF2-40B4-BE49-F238E27FC236}">
                <a16:creationId xmlns:a16="http://schemas.microsoft.com/office/drawing/2014/main" id="{832C8AD3-C8DB-4556-BEC8-4147A113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3623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成本预测完全准确时，策略项仍推动输出改变</a:t>
            </a:r>
          </a:p>
        </p:txBody>
      </p:sp>
      <p:sp>
        <p:nvSpPr>
          <p:cNvPr id="9" name="动作结构">
            <a:extLst xmlns:a="http://schemas.openxmlformats.org/drawingml/2006/main">
              <a:ext uri="{FF2B5EF4-FFF2-40B4-BE49-F238E27FC236}">
                <a16:creationId xmlns:a16="http://schemas.microsoft.com/office/drawing/2014/main" id="{5AFE8B9C-044D-4374-8E9D-5E4037D0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动作结构</a:t>
            </a:r>
          </a:p>
        </p:txBody>
      </p:sp>
      <p:sp>
        <p:nvSpPr>
          <p:cNvPr id="10" name="三个成本独立预测，没有强制满足真实二次关系">
            <a:extLst xmlns:a="http://schemas.openxmlformats.org/drawingml/2006/main">
              <a:ext uri="{FF2B5EF4-FFF2-40B4-BE49-F238E27FC236}">
                <a16:creationId xmlns:a16="http://schemas.microsoft.com/office/drawing/2014/main" id="{7D30DD34-6DE8-44A2-A8F1-D259FEB9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3286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三个成本独立预测，没有强制满足真实二次关系</a:t>
            </a:r>
          </a:p>
        </p:txBody>
      </p:sp>
      <p:sp>
        <p:nvSpPr>
          <p:cNvPr id="11" name="ΔE(a) = aA + a²B">
            <a:extLst xmlns:a="http://schemas.openxmlformats.org/drawingml/2006/main">
              <a:ext uri="{FF2B5EF4-FFF2-40B4-BE49-F238E27FC236}">
                <a16:creationId xmlns:a16="http://schemas.microsoft.com/office/drawing/2014/main" id="{21E82A4D-3BFA-4927-B144-14DA161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7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ΔE(a) = aA + a²B</a:t>
            </a:r>
          </a:p>
        </p:txBody>
      </p:sp>
      <p:sp>
        <p:nvSpPr>
          <p:cNvPr id="12" name="B = mean(Δ²) 可直接计算；A = 2 mean((T1−G">
            <a:extLst xmlns:a="http://schemas.openxmlformats.org/drawingml/2006/main">
              <a:ext uri="{FF2B5EF4-FFF2-40B4-BE49-F238E27FC236}">
                <a16:creationId xmlns:a16="http://schemas.microsoft.com/office/drawing/2014/main" id="{506AD4A9-A632-4CDB-920A-D4845BF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19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 = mean(Δ²) 可直接计算；A = 2 mean((T1−GT)Δ) 包含未知真实误差</a:t>
            </a:r>
          </a:p>
        </p:txBody>
      </p:sp>
    </p:spTree>
    <p:extLst>
      <p:ext uri="{BB962C8B-B14F-4D97-AF65-F5344CB8AC3E}">
        <p14:creationId xmlns:p14="http://schemas.microsoft.com/office/powerpoint/2010/main" val="67838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D1980-1E9C-402C-99FC-EA31B54F844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24955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4AEE1-36A5-4263-964E-A1F49413C4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57625" y="24955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tailEnd type="arrow" w="sm" len="sm"/>
          </a:ln>
        </p:spPr>
      </p:cxnSp>
      <p:sp>
        <p:nvSpPr>
          <p:cNvPr id="12" name="下一步的验证顺序">
            <a:extLst xmlns:a="http://schemas.openxmlformats.org/drawingml/2006/main">
              <a:ext uri="{FF2B5EF4-FFF2-40B4-BE49-F238E27FC236}">
                <a16:creationId xmlns:a16="http://schemas.microsoft.com/office/drawing/2014/main" id="{72A5E496-C9E3-49E1-92C6-4F8D5D6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下一步的验证顺序</a:t>
            </a:r>
          </a:p>
        </p:txBody>
      </p:sp>
      <p:sp>
        <p:nvSpPr>
          <p:cNvPr id="2" name="把训练能否拟合、跨场景泛化、最终收益分别回答清楚">
            <a:extLst xmlns:a="http://schemas.openxmlformats.org/drawingml/2006/main">
              <a:ext uri="{FF2B5EF4-FFF2-40B4-BE49-F238E27FC236}">
                <a16:creationId xmlns:a16="http://schemas.microsoft.com/office/drawing/2014/main" id="{1CAAA3C5-C349-4892-BDEB-CF8C50C4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把训练能否拟合、跨场景泛化、最终收益分别回答清楚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577DBD70-04C0-489A-BF37-CD3E083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2311B8D8-508E-476C-B037-5D5CB582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固定第一轮与候选&#10;检查训练侧能否拟合收益">
            <a:extLst xmlns:a="http://schemas.openxmlformats.org/drawingml/2006/main">
              <a:ext uri="{FF2B5EF4-FFF2-40B4-BE49-F238E27FC236}">
                <a16:creationId xmlns:a16="http://schemas.microsoft.com/office/drawing/2014/main" id="{0FD8FDB7-217A-4855-983B-E675734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400425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固定第一轮与候选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检查训练侧能否拟合收益</a:t>
            </a:r>
          </a:p>
        </p:txBody>
      </p:sp>
      <p:sp>
        <p:nvSpPr>
          <p:cNvPr id="6" name="一次只改一个变量&#10;输入尺度 / 成本目标 / 结构">
            <a:extLst xmlns:a="http://schemas.openxmlformats.org/drawingml/2006/main">
              <a:ext uri="{FF2B5EF4-FFF2-40B4-BE49-F238E27FC236}">
                <a16:creationId xmlns:a16="http://schemas.microsoft.com/office/drawing/2014/main" id="{927E7A0A-5272-4423-960D-CC3E7622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52625"/>
            <a:ext cx="3400425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一次只改一个变量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输入尺度 / 成本目标 / 结构</a:t>
            </a:r>
          </a:p>
        </p:txBody>
      </p:sp>
      <p:sp>
        <p:nvSpPr>
          <p:cNvPr id="7" name="独立场景、完整图像&#10;核验非零修改的真实净收益">
            <a:extLst xmlns:a="http://schemas.openxmlformats.org/drawingml/2006/main">
              <a:ext uri="{FF2B5EF4-FFF2-40B4-BE49-F238E27FC236}">
                <a16:creationId xmlns:a16="http://schemas.microsoft.com/office/drawing/2014/main" id="{29814B2C-8F8A-436B-8B84-723A2656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52625"/>
            <a:ext cx="3362325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13335">
            <a:solidFill>
              <a:srgbClr val="26748B"/>
            </a:solidFill>
          </a:ln>
        </p:spPr>
        <p:txBody>
          <a:bodyPr xmlns:a="http://schemas.openxmlformats.org/drawingml/2006/main" wrap="square" lIns="66675" tIns="66675" rIns="66675" bIns="66675" anchor="ctr"/>
          <a:lstStyle xmlns:a="http://schemas.openxmlformats.org/drawingml/2006/main">
            <a:def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独立场景、完整图像</a:t>
            </a:r>
          </a:p>
          <a:p xmlns:a="http://schemas.openxmlformats.org/drawingml/2006/main">
            <a:pPr algn="ctr">
              <a:def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核验非零修改的真实净收益</a:t>
            </a:r>
          </a:p>
        </p:txBody>
      </p:sp>
      <p:sp>
        <p:nvSpPr>
          <p:cNvPr id="10" name="若训练侧拟合不好：排查目标、输入量级和优化条件&#10;若训练拟合好但整图失败">
            <a:extLst xmlns:a="http://schemas.openxmlformats.org/drawingml/2006/main">
              <a:ext uri="{FF2B5EF4-FFF2-40B4-BE49-F238E27FC236}">
                <a16:creationId xmlns:a16="http://schemas.microsoft.com/office/drawing/2014/main" id="{FCD3A7CE-FA08-43A8-B403-6D0C2117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3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若训练侧拟合不好：排查目标、输入量级和优化条件</a:t>
            </a:r>
          </a:p>
          <a:p xmlns:a="http://schemas.openxmlformats.org/drawingml/2006/main">
            <a:pPr algn="l">
              <a:defRPr sz="217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若训练拟合好但整图失败：检查上下文、场景迁移和候选稳定性</a:t>
            </a:r>
          </a:p>
        </p:txBody>
      </p:sp>
      <p:sp>
        <p:nvSpPr>
          <p:cNvPr id="11" name="成立条件：有效非零修改、PSNR正收益、SSIM不降，同时报告损害与覆">
            <a:extLst xmlns:a="http://schemas.openxmlformats.org/drawingml/2006/main">
              <a:ext uri="{FF2B5EF4-FFF2-40B4-BE49-F238E27FC236}">
                <a16:creationId xmlns:a16="http://schemas.microsoft.com/office/drawing/2014/main" id="{3BDA3AA3-75A9-42FD-94DC-8824F283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94F43"/>
                </a:solidFill>
                <a:latin typeface="Microsoft YaHei"/>
                <a:ea typeface="Microsoft YaHei"/>
                <a:cs typeface="Microsoft YaHei"/>
              </a:rPr>
              <a:t>成立条件：有效非零修改、PSNR正收益、SSIM不降，同时报告损害与覆盖</a:t>
            </a:r>
          </a:p>
        </p:txBody>
      </p:sp>
    </p:spTree>
    <p:extLst>
      <p:ext uri="{BB962C8B-B14F-4D97-AF65-F5344CB8AC3E}">
        <p14:creationId xmlns:p14="http://schemas.microsoft.com/office/powerpoint/2010/main" val="19667506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266EB0-229E-42DC-9C1E-0DD51404ADA0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607338" y="4215493"/>
            <a:ext cx="2907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EBEAB0-9FE8-4E3C-98D4-B34533EED7C9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325240" y="4215493"/>
            <a:ext cx="211434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BF6245-D6B5-4DAF-B94A-DB69BBFB95A0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5303123" y="3443758"/>
            <a:ext cx="343580" cy="56558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CD6BDF-F556-4EAB-B06E-F346331A1DD8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069571" y="4215493"/>
            <a:ext cx="26429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BD809A-6538-4B92-BC10-4F899FD371CD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866760" y="4215493"/>
            <a:ext cx="237864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50655-2FE7-4009-93D0-3FC9BA0A804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474634" y="3237610"/>
            <a:ext cx="422867" cy="77173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E2CE98-C1AE-4878-B2CD-D430829A3665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8897502" y="3443758"/>
            <a:ext cx="528585" cy="56558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AA18D4-EE34-4A58-9199-59B2F83BD7E6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950360" y="2439446"/>
            <a:ext cx="475727" cy="59201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615725-E11A-4BE4-B1B6-28DC37E9F4A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047453" y="2439446"/>
            <a:ext cx="581445" cy="59201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189A8-D7AE-401B-82AB-9CED3DAD744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223834" y="2439446"/>
            <a:ext cx="422869" cy="59201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E7A551-9EBD-4F43-A7B0-5A3E4B183BD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18772" y="3237610"/>
            <a:ext cx="251078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1B468-A29A-478E-A666-7A58CDB8477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105182" y="2439446"/>
            <a:ext cx="52859" cy="59201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CB2F2-B900-4A21-A698-00752A92FB2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87472" y="2233298"/>
            <a:ext cx="396439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2EF72-2D49-46C6-94FB-E891690C14B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63853" y="2233298"/>
            <a:ext cx="343581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08B56-3E19-4E19-B985-82ED64CA402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19523" y="2233298"/>
            <a:ext cx="26429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0E6E6-7763-49B2-B0B4-8108C849D2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13055" y="2233298"/>
            <a:ext cx="2907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40" name="结构附录A：完整偏振增强器">
            <a:extLst xmlns:a="http://schemas.openxmlformats.org/drawingml/2006/main">
              <a:ext uri="{FF2B5EF4-FFF2-40B4-BE49-F238E27FC236}">
                <a16:creationId xmlns:a16="http://schemas.microsoft.com/office/drawing/2014/main" id="{A8C0A8BC-2453-48A5-A450-FED10EB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结构附录A：完整偏振增强器</a:t>
            </a:r>
          </a:p>
        </p:txBody>
      </p:sp>
      <p:sp>
        <p:nvSpPr>
          <p:cNvPr id="2" name="细节供问答；原尺寸可编辑SVG与逐模块CSV随汇报一起交付">
            <a:extLst xmlns:a="http://schemas.openxmlformats.org/drawingml/2006/main">
              <a:ext uri="{FF2B5EF4-FFF2-40B4-BE49-F238E27FC236}">
                <a16:creationId xmlns:a16="http://schemas.microsoft.com/office/drawing/2014/main" id="{5153BA3F-41E8-4E0F-BDEC-3CC6965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细节供问答；原尺寸可编辑SVG与逐模块CSV随汇报一起交付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D5AE4568-1AA0-4FE8-8BF7-E7E1BA6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077D1A32-31BC-4A38-81D9-FECA776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DA502F5C-6A68-4EF2-BEF4-86A8EBF2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09" y="2027150"/>
            <a:ext cx="1215746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P0：四角度RGB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边缘反射补齐到4的倍数</a:t>
            </a:r>
          </a:p>
        </p:txBody>
      </p:sp>
      <p:sp>
        <p:nvSpPr>
          <p:cNvPr id="6" name="img">
            <a:extLst xmlns:a="http://schemas.openxmlformats.org/drawingml/2006/main">
              <a:ext uri="{FF2B5EF4-FFF2-40B4-BE49-F238E27FC236}">
                <a16:creationId xmlns:a16="http://schemas.microsoft.com/office/drawing/2014/main" id="{055B58D2-DF96-437A-BE46-9F3A5140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777" y="2027150"/>
            <a:ext cx="1215746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图像特征提取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Conv3×3：12→48</a:t>
            </a:r>
          </a:p>
        </p:txBody>
      </p:sp>
      <p:sp>
        <p:nvSpPr>
          <p:cNvPr id="7" name="enc1">
            <a:extLst xmlns:a="http://schemas.openxmlformats.org/drawingml/2006/main">
              <a:ext uri="{FF2B5EF4-FFF2-40B4-BE49-F238E27FC236}">
                <a16:creationId xmlns:a16="http://schemas.microsoft.com/office/drawing/2014/main" id="{1CB579EF-1304-4BCE-9F51-883C91B9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815" y="2027150"/>
            <a:ext cx="1480038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编码器1：P-Transformer ×4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48通道，1头，全尺度</a:t>
            </a:r>
          </a:p>
        </p:txBody>
      </p:sp>
      <p:sp>
        <p:nvSpPr>
          <p:cNvPr id="8" name="enc2">
            <a:extLst xmlns:a="http://schemas.openxmlformats.org/drawingml/2006/main">
              <a:ext uri="{FF2B5EF4-FFF2-40B4-BE49-F238E27FC236}">
                <a16:creationId xmlns:a16="http://schemas.microsoft.com/office/drawing/2014/main" id="{98AB777E-A377-465D-B434-71039F6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434" y="2027150"/>
            <a:ext cx="1480038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下采样 + 编码器2 ×6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96通道，2头，1/2尺度</a:t>
            </a:r>
          </a:p>
        </p:txBody>
      </p:sp>
      <p:sp>
        <p:nvSpPr>
          <p:cNvPr id="9" name="enc3">
            <a:extLst xmlns:a="http://schemas.openxmlformats.org/drawingml/2006/main">
              <a:ext uri="{FF2B5EF4-FFF2-40B4-BE49-F238E27FC236}">
                <a16:creationId xmlns:a16="http://schemas.microsoft.com/office/drawing/2014/main" id="{6CDECDA3-3262-4BAE-B230-F55FF520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11" y="2027150"/>
            <a:ext cx="1532897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下采样 + 瓶颈 ×6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192通道，4头，1/4尺度</a:t>
            </a:r>
          </a:p>
        </p:txBody>
      </p:sp>
      <p:sp>
        <p:nvSpPr>
          <p:cNvPr id="10" name="pol">
            <a:extLst xmlns:a="http://schemas.openxmlformats.org/drawingml/2006/main">
              <a:ext uri="{FF2B5EF4-FFF2-40B4-BE49-F238E27FC236}">
                <a16:creationId xmlns:a16="http://schemas.microsoft.com/office/drawing/2014/main" id="{F0FFD6D5-F15C-4ACE-BDC6-81D1A794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09" y="3031462"/>
            <a:ext cx="1321463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偏振差描述 S1/S2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6→48偏振特征提取</a:t>
            </a:r>
          </a:p>
        </p:txBody>
      </p:sp>
      <p:sp>
        <p:nvSpPr>
          <p:cNvPr id="11" name="pol2">
            <a:extLst xmlns:a="http://schemas.openxmlformats.org/drawingml/2006/main">
              <a:ext uri="{FF2B5EF4-FFF2-40B4-BE49-F238E27FC236}">
                <a16:creationId xmlns:a16="http://schemas.microsoft.com/office/drawing/2014/main" id="{21F78374-2ED7-4D7A-9777-351FCE8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50" y="3031462"/>
            <a:ext cx="1453609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共享Downsample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偏振特征48→96→192</a:t>
            </a:r>
          </a:p>
        </p:txBody>
      </p:sp>
      <p:sp>
        <p:nvSpPr>
          <p:cNvPr id="12" name="sgsc1">
            <a:extLst xmlns:a="http://schemas.openxmlformats.org/drawingml/2006/main">
              <a:ext uri="{FF2B5EF4-FFF2-40B4-BE49-F238E27FC236}">
                <a16:creationId xmlns:a16="http://schemas.microsoft.com/office/drawing/2014/main" id="{4DF566C3-C144-46E2-AD43-8EA4A063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966" y="3031462"/>
            <a:ext cx="1691473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SGSC 全尺度跳接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Concat(x1,p1)→1×1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ResBlock→SE</a:t>
            </a:r>
          </a:p>
        </p:txBody>
      </p:sp>
      <p:sp>
        <p:nvSpPr>
          <p:cNvPr id="13" name="sgsc2">
            <a:extLst xmlns:a="http://schemas.openxmlformats.org/drawingml/2006/main">
              <a:ext uri="{FF2B5EF4-FFF2-40B4-BE49-F238E27FC236}">
                <a16:creationId xmlns:a16="http://schemas.microsoft.com/office/drawing/2014/main" id="{9CA0C84B-A9AF-44B1-8EC2-F3C94B34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161" y="3031462"/>
            <a:ext cx="1691473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SGSC 半尺度跳接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Concat(x2,p2)→1×1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ResBlock→SE</a:t>
            </a:r>
          </a:p>
        </p:txBody>
      </p:sp>
      <p:sp>
        <p:nvSpPr>
          <p:cNvPr id="14" name="a3">
            <a:extLst xmlns:a="http://schemas.openxmlformats.org/drawingml/2006/main">
              <a:ext uri="{FF2B5EF4-FFF2-40B4-BE49-F238E27FC236}">
                <a16:creationId xmlns:a16="http://schemas.microsoft.com/office/drawing/2014/main" id="{FA47C976-F712-47D5-A7D9-67C58932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209" y="3031462"/>
            <a:ext cx="1585755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跨轮TaskAdapter level3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+ Z3残差适配</a:t>
            </a:r>
          </a:p>
        </p:txBody>
      </p:sp>
      <p:sp>
        <p:nvSpPr>
          <p:cNvPr id="15" name="a2">
            <a:extLst xmlns:a="http://schemas.openxmlformats.org/drawingml/2006/main">
              <a:ext uri="{FF2B5EF4-FFF2-40B4-BE49-F238E27FC236}">
                <a16:creationId xmlns:a16="http://schemas.microsoft.com/office/drawing/2014/main" id="{5893D9F2-3E37-4365-836B-4AF2B8B6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863" y="4009345"/>
            <a:ext cx="1532897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跨轮TaskAdapter level2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+ Z2残差适配</a:t>
            </a:r>
          </a:p>
        </p:txBody>
      </p:sp>
      <p:sp>
        <p:nvSpPr>
          <p:cNvPr id="16" name="dec2">
            <a:extLst xmlns:a="http://schemas.openxmlformats.org/drawingml/2006/main">
              <a:ext uri="{FF2B5EF4-FFF2-40B4-BE49-F238E27FC236}">
                <a16:creationId xmlns:a16="http://schemas.microsoft.com/office/drawing/2014/main" id="{7D6720A6-127F-4465-A97D-F8C5084E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624" y="4009345"/>
            <a:ext cx="1585755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上采样/跳接/1×1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P-Transformer ×6，96通道</a:t>
            </a:r>
          </a:p>
        </p:txBody>
      </p:sp>
      <p:sp>
        <p:nvSpPr>
          <p:cNvPr id="17" name="dec1">
            <a:extLst xmlns:a="http://schemas.openxmlformats.org/drawingml/2006/main">
              <a:ext uri="{FF2B5EF4-FFF2-40B4-BE49-F238E27FC236}">
                <a16:creationId xmlns:a16="http://schemas.microsoft.com/office/drawing/2014/main" id="{CC423FE3-833C-401C-A0CE-9924DC05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674" y="4009345"/>
            <a:ext cx="1532897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上采样/跳接/1×1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P-Transformer ×4，48通道</a:t>
            </a:r>
          </a:p>
        </p:txBody>
      </p:sp>
      <p:sp>
        <p:nvSpPr>
          <p:cNvPr id="18" name="refine">
            <a:extLst xmlns:a="http://schemas.openxmlformats.org/drawingml/2006/main">
              <a:ext uri="{FF2B5EF4-FFF2-40B4-BE49-F238E27FC236}">
                <a16:creationId xmlns:a16="http://schemas.microsoft.com/office/drawing/2014/main" id="{CA930075-45BA-4730-B308-3F501717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060" y="4009345"/>
            <a:ext cx="1427180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普通Transformer精炼 ×2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Conv3×3：48→12</a:t>
            </a:r>
          </a:p>
        </p:txBody>
      </p:sp>
      <p:sp>
        <p:nvSpPr>
          <p:cNvPr id="19" name="out">
            <a:extLst xmlns:a="http://schemas.openxmlformats.org/drawingml/2006/main">
              <a:ext uri="{FF2B5EF4-FFF2-40B4-BE49-F238E27FC236}">
                <a16:creationId xmlns:a16="http://schemas.microsoft.com/office/drawing/2014/main" id="{8EAAD013-09DF-4B0D-9771-C8483518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592" y="4009345"/>
            <a:ext cx="1215746" cy="412296"/>
          </a:xfrm>
          <a:prstGeom xmlns:a="http://schemas.openxmlformats.org/drawingml/2006/main" prst="roundRect">
            <a:avLst>
              <a:gd name="adj" fmla="val 924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残差加P0，clamp[0,1]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恢复原尺寸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输出P及P1/P2/P3</a:t>
            </a:r>
          </a:p>
        </p:txBody>
      </p:sp>
      <p:sp>
        <p:nvSpPr>
          <p:cNvPr id="20" name="tb">
            <a:extLst xmlns:a="http://schemas.openxmlformats.org/drawingml/2006/main">
              <a:ext uri="{FF2B5EF4-FFF2-40B4-BE49-F238E27FC236}">
                <a16:creationId xmlns:a16="http://schemas.microsoft.com/office/drawing/2014/main" id="{F3D1C233-8131-4C58-A319-9DFBF52E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314" y="5061229"/>
            <a:ext cx="3012935" cy="581444"/>
          </a:xfrm>
          <a:prstGeom xmlns:a="http://schemas.openxmlformats.org/drawingml/2006/main" prst="roundRect">
            <a:avLst>
              <a:gd name="adj" fmla="val 65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P-Transformer基本块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LN→共享MDTA(x,p)→残差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LN→GELU(Wx)×Wp→1×1→残差</a:t>
            </a:r>
          </a:p>
        </p:txBody>
      </p:sp>
      <p:sp>
        <p:nvSpPr>
          <p:cNvPr id="21" name="adapt">
            <a:extLst xmlns:a="http://schemas.openxmlformats.org/drawingml/2006/main">
              <a:ext uri="{FF2B5EF4-FFF2-40B4-BE49-F238E27FC236}">
                <a16:creationId xmlns:a16="http://schemas.microsoft.com/office/drawing/2014/main" id="{AB9B7658-7FB4-4DBD-B6F6-4B05B24B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259" y="5061229"/>
            <a:ext cx="4281540" cy="581444"/>
          </a:xfrm>
          <a:prstGeom xmlns:a="http://schemas.openxmlformats.org/drawingml/2006/main" prst="roundRect">
            <a:avLst>
              <a:gd name="adj" fmla="val 65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TaskAdapter内部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I投影 + 当前P−P0投影 + C·(Tprev/I−Tprev/Fprev)</a:t>
            </a:r>
          </a:p>
          <a:p xmlns:a="http://schemas.openxmlformats.org/drawingml/2006/main">
            <a:pPr algn="ctr">
              <a:def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Concat本层/C/可用标志→1×1→DW3×3→1×1→0.1tanh</a:t>
            </a:r>
          </a:p>
        </p:txBody>
      </p:sp>
      <p:sp>
        <p:nvSpPr>
          <p:cNvPr id="38" name="Down：Conv3×3 + PixelUnshuffle2；Up：C">
            <a:extLst xmlns:a="http://schemas.openxmlformats.org/drawingml/2006/main">
              <a:ext uri="{FF2B5EF4-FFF2-40B4-BE49-F238E27FC236}">
                <a16:creationId xmlns:a16="http://schemas.microsoft.com/office/drawing/2014/main" id="{424C4488-BD26-47A2-91A0-7D04B507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68" y="5869964"/>
            <a:ext cx="10932816" cy="132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08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08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8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Down：Conv3×3 + PixelUnshuffle2；Up：Conv3×3 + PixelShuffle2。MDTA：QKV1×1→DW3×3→通道注意力→投影。</a:t>
            </a:r>
          </a:p>
        </p:txBody>
      </p:sp>
      <p:sp>
        <p:nvSpPr>
          <p:cNvPr id="39" name="p1/p2/p3送同尺度编码/瓶颈/解码和SGSC。SR已删；de_r">
            <a:extLst xmlns:a="http://schemas.openxmlformats.org/drawingml/2006/main">
              <a:ext uri="{FF2B5EF4-FFF2-40B4-BE49-F238E27FC236}">
                <a16:creationId xmlns:a16="http://schemas.microsoft.com/office/drawing/2014/main" id="{18F3E7D7-241F-479F-BF34-483E469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68" y="6039112"/>
            <a:ext cx="10932816" cy="132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08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08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8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p1/p2/p3送同尺度编码/瓶颈/解码和SGSC。SR已删；de_reduce_chan2、P-FFN.dwconv登记未用。两轮共享E，第二轮才有反馈。</a:t>
            </a:r>
          </a:p>
        </p:txBody>
      </p:sp>
    </p:spTree>
    <p:extLst>
      <p:ext uri="{BB962C8B-B14F-4D97-AF65-F5344CB8AC3E}">
        <p14:creationId xmlns:p14="http://schemas.microsoft.com/office/powerpoint/2010/main" val="4809082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243C51-4BFC-4A85-8AB3-820593850C41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4978497" y="4892242"/>
            <a:ext cx="218641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4D2149-FE4C-41B4-BE1E-41255B622D2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78497" y="3920500"/>
            <a:ext cx="218641" cy="97174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dash"/>
            <a:tail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4B433-7FBA-4A65-A8FA-C8B58D4DD1E9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6654752" y="4892242"/>
            <a:ext cx="21864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482DC-5D7E-4665-B74B-26BC37F9269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654752" y="3920500"/>
            <a:ext cx="218642" cy="97174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dash"/>
            <a:tail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BF623-1656-4442-B49C-89EABE0C9D57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8331008" y="4892242"/>
            <a:ext cx="242935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798C5-375D-46D0-ACED-8A63EC603315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302750" y="4109990"/>
            <a:ext cx="0" cy="50287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1BCA19-F2DB-4668-B37A-5D1648E4FC1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116330" y="3373895"/>
            <a:ext cx="485871" cy="35711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dash"/>
            <a:tail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03420-E8BA-463F-8706-F5668AA3434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31008" y="3920500"/>
            <a:ext cx="242935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3BE63-0CAE-4142-91FD-4184BB638CA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654752" y="3920500"/>
            <a:ext cx="21864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7E32C-9B3D-431E-878E-DFFB3486325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78497" y="3920500"/>
            <a:ext cx="218641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DDA6D-1F64-468F-967C-3BD1CB34D60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53653" y="3920500"/>
            <a:ext cx="267230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3382A-DB98-4B50-87EF-301FA031C997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966604" y="2171364"/>
            <a:ext cx="364404" cy="92315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B2174-5005-4604-B393-8AF05ACD2A6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9156989" y="2414299"/>
            <a:ext cx="1" cy="3765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32761-433A-46E8-B86E-5E44E7041F3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42310" y="2171363"/>
            <a:ext cx="388698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26EAE-B3DC-4F79-AEF1-8CECCDC1033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28771" y="2171363"/>
            <a:ext cx="46157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D0CBE-E457-4997-A9EB-07F0B27AA91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50828" y="2171363"/>
            <a:ext cx="242935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40" name="结构附录B：完整PolarFree">
            <a:extLst xmlns:a="http://schemas.openxmlformats.org/drawingml/2006/main">
              <a:ext uri="{FF2B5EF4-FFF2-40B4-BE49-F238E27FC236}">
                <a16:creationId xmlns:a16="http://schemas.microsoft.com/office/drawing/2014/main" id="{E3A5F771-D665-4A4A-970A-F312CCA7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结构附录B：完整PolarFree</a:t>
            </a:r>
          </a:p>
        </p:txBody>
      </p:sp>
      <p:sp>
        <p:nvSpPr>
          <p:cNvPr id="2" name="细节供问答；原尺寸可编辑SVG与逐模块CSV随汇报一起交付">
            <a:extLst xmlns:a="http://schemas.openxmlformats.org/drawingml/2006/main">
              <a:ext uri="{FF2B5EF4-FFF2-40B4-BE49-F238E27FC236}">
                <a16:creationId xmlns:a16="http://schemas.microsoft.com/office/drawing/2014/main" id="{9E35B5FF-F982-43C3-9A7C-37FEBDC4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细节供问答；原尺寸可编辑SVG与逐模块CSV随汇报一起交付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A8EB17C1-C754-4D3B-96BC-A92A0F19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43D38311-F823-40F4-BD8F-733E60D7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inputs">
            <a:extLst xmlns:a="http://schemas.openxmlformats.org/drawingml/2006/main">
              <a:ext uri="{FF2B5EF4-FFF2-40B4-BE49-F238E27FC236}">
                <a16:creationId xmlns:a16="http://schemas.microsoft.com/office/drawing/2014/main" id="{D9172E1C-568C-46C1-A7F5-D6519750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214" y="1981873"/>
            <a:ext cx="1457614" cy="378980"/>
          </a:xfrm>
          <a:prstGeom xmlns:a="http://schemas.openxmlformats.org/drawingml/2006/main" prst="roundRect">
            <a:avLst>
              <a:gd name="adj" fmla="val 100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任务输入共9通道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原RGB3 + 四灰度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AoLP + DoLP</a:t>
            </a:r>
          </a:p>
        </p:txBody>
      </p:sp>
      <p:sp>
        <p:nvSpPr>
          <p:cNvPr id="6" name="le">
            <a:extLst xmlns:a="http://schemas.openxmlformats.org/drawingml/2006/main">
              <a:ext uri="{FF2B5EF4-FFF2-40B4-BE49-F238E27FC236}">
                <a16:creationId xmlns:a16="http://schemas.microsoft.com/office/drawing/2014/main" id="{5F6342B2-84DA-4FAB-AD11-D0AE49CD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763" y="1904134"/>
            <a:ext cx="2235008" cy="534458"/>
          </a:xfrm>
          <a:prstGeom xmlns:a="http://schemas.openxmlformats.org/drawingml/2006/main" prst="roundRect">
            <a:avLst>
              <a:gd name="adj" fmla="val 7129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条件编码 net_le_dm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PixelUnshuffle4→Conv(144→64)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残差Conv块×6→Conv→4×4池化</a:t>
            </a:r>
          </a:p>
        </p:txBody>
      </p:sp>
      <p:sp>
        <p:nvSpPr>
          <p:cNvPr id="7" name="mix">
            <a:extLst xmlns:a="http://schemas.openxmlformats.org/drawingml/2006/main">
              <a:ext uri="{FF2B5EF4-FFF2-40B4-BE49-F238E27FC236}">
                <a16:creationId xmlns:a16="http://schemas.microsoft.com/office/drawing/2014/main" id="{D850B060-05A7-4472-9EFD-DD604FD8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348" y="1904134"/>
            <a:ext cx="1651962" cy="534458"/>
          </a:xfrm>
          <a:prstGeom xmlns:a="http://schemas.openxmlformats.org/drawingml/2006/main" prst="roundRect">
            <a:avLst>
              <a:gd name="adj" fmla="val 7129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16个先验token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MLP：patch/channel混合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Linear64→256 + GELU</a:t>
            </a:r>
          </a:p>
        </p:txBody>
      </p:sp>
      <p:sp>
        <p:nvSpPr>
          <p:cNvPr id="8" name="dm">
            <a:extLst xmlns:a="http://schemas.openxmlformats.org/drawingml/2006/main">
              <a:ext uri="{FF2B5EF4-FFF2-40B4-BE49-F238E27FC236}">
                <a16:creationId xmlns:a16="http://schemas.microsoft.com/office/drawing/2014/main" id="{C4B4D32A-CA22-4CFA-8AE8-54C6A9CB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008" y="1928428"/>
            <a:ext cx="1651962" cy="485871"/>
          </a:xfrm>
          <a:prstGeom xmlns:a="http://schemas.openxmlformats.org/drawingml/2006/main" prst="roundRect">
            <a:avLst>
              <a:gd name="adj" fmla="val 784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随机潜变量 + 条件先验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8次反向扩散，共享net_d</a:t>
            </a:r>
          </a:p>
        </p:txBody>
      </p:sp>
      <p:sp>
        <p:nvSpPr>
          <p:cNvPr id="9" name="den">
            <a:extLst xmlns:a="http://schemas.openxmlformats.org/drawingml/2006/main">
              <a:ext uri="{FF2B5EF4-FFF2-40B4-BE49-F238E27FC236}">
                <a16:creationId xmlns:a16="http://schemas.microsoft.com/office/drawing/2014/main" id="{C377A443-0CAB-438D-9804-606107E9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833" y="2790849"/>
            <a:ext cx="1846311" cy="607339"/>
          </a:xfrm>
          <a:prstGeom xmlns:a="http://schemas.openxmlformats.org/drawingml/2006/main" prst="roundRect">
            <a:avLst>
              <a:gd name="adj" fmla="val 627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net_d单步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Concat(z,t,c)→Linear768→512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MLP-Mixer×2→Linear512→256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时间尺度参数；噪声调度/后验系数</a:t>
            </a:r>
          </a:p>
        </p:txBody>
      </p:sp>
      <p:sp>
        <p:nvSpPr>
          <p:cNvPr id="10" name="priors">
            <a:extLst xmlns:a="http://schemas.openxmlformats.org/drawingml/2006/main">
              <a:ext uri="{FF2B5EF4-FFF2-40B4-BE49-F238E27FC236}">
                <a16:creationId xmlns:a16="http://schemas.microsoft.com/office/drawing/2014/main" id="{70A7177C-9E2E-4782-8691-5F78845C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055" y="2815143"/>
            <a:ext cx="1700549" cy="558752"/>
          </a:xfrm>
          <a:prstGeom xmlns:a="http://schemas.openxmlformats.org/drawingml/2006/main" prst="roundRect">
            <a:avLst>
              <a:gd name="adj" fmla="val 6819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多尺度先验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16token→4token→1token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可学习token/通道线性映射</a:t>
            </a:r>
          </a:p>
        </p:txBody>
      </p:sp>
      <p:sp>
        <p:nvSpPr>
          <p:cNvPr id="11" name="rgb">
            <a:extLst xmlns:a="http://schemas.openxmlformats.org/drawingml/2006/main">
              <a:ext uri="{FF2B5EF4-FFF2-40B4-BE49-F238E27FC236}">
                <a16:creationId xmlns:a16="http://schemas.microsoft.com/office/drawing/2014/main" id="{30824E3F-36C7-4998-89A9-8E176C43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801" y="3731010"/>
            <a:ext cx="1311852" cy="378980"/>
          </a:xfrm>
          <a:prstGeom xmlns:a="http://schemas.openxmlformats.org/drawingml/2006/main" prst="roundRect">
            <a:avLst>
              <a:gd name="adj" fmla="val 100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相同原RGB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PatchEmbed 3→48</a:t>
            </a:r>
          </a:p>
        </p:txBody>
      </p:sp>
      <p:sp>
        <p:nvSpPr>
          <p:cNvPr id="12" name="g1">
            <a:extLst xmlns:a="http://schemas.openxmlformats.org/drawingml/2006/main">
              <a:ext uri="{FF2B5EF4-FFF2-40B4-BE49-F238E27FC236}">
                <a16:creationId xmlns:a16="http://schemas.microsoft.com/office/drawing/2014/main" id="{CA6E9174-24C3-4603-BCDC-1A9193E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883" y="3731010"/>
            <a:ext cx="1457614" cy="378980"/>
          </a:xfrm>
          <a:prstGeom xmlns:a="http://schemas.openxmlformats.org/drawingml/2006/main" prst="roundRect">
            <a:avLst>
              <a:gd name="adj" fmla="val 100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编码level1 ×3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48，全尺度，先验16token</a:t>
            </a:r>
          </a:p>
        </p:txBody>
      </p:sp>
      <p:sp>
        <p:nvSpPr>
          <p:cNvPr id="13" name="g2">
            <a:extLst xmlns:a="http://schemas.openxmlformats.org/drawingml/2006/main">
              <a:ext uri="{FF2B5EF4-FFF2-40B4-BE49-F238E27FC236}">
                <a16:creationId xmlns:a16="http://schemas.microsoft.com/office/drawing/2014/main" id="{63082471-7140-4CA7-B075-28718A84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38" y="3731010"/>
            <a:ext cx="1457614" cy="378980"/>
          </a:xfrm>
          <a:prstGeom xmlns:a="http://schemas.openxmlformats.org/drawingml/2006/main" prst="roundRect">
            <a:avLst>
              <a:gd name="adj" fmla="val 100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编码level2 ×4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96，1/2，先验4token</a:t>
            </a:r>
          </a:p>
        </p:txBody>
      </p:sp>
      <p:sp>
        <p:nvSpPr>
          <p:cNvPr id="14" name="g3">
            <a:extLst xmlns:a="http://schemas.openxmlformats.org/drawingml/2006/main">
              <a:ext uri="{FF2B5EF4-FFF2-40B4-BE49-F238E27FC236}">
                <a16:creationId xmlns:a16="http://schemas.microsoft.com/office/drawing/2014/main" id="{C1A99765-2A3A-427B-96F9-B0377E31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394" y="3731010"/>
            <a:ext cx="1457614" cy="378980"/>
          </a:xfrm>
          <a:prstGeom xmlns:a="http://schemas.openxmlformats.org/drawingml/2006/main" prst="roundRect">
            <a:avLst>
              <a:gd name="adj" fmla="val 100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编码level3 ×4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192，1/4，先验4token</a:t>
            </a:r>
          </a:p>
        </p:txBody>
      </p:sp>
      <p:sp>
        <p:nvSpPr>
          <p:cNvPr id="15" name="g4">
            <a:extLst xmlns:a="http://schemas.openxmlformats.org/drawingml/2006/main">
              <a:ext uri="{FF2B5EF4-FFF2-40B4-BE49-F238E27FC236}">
                <a16:creationId xmlns:a16="http://schemas.microsoft.com/office/drawing/2014/main" id="{75D62BDB-5557-4418-8924-F369F47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943" y="3731010"/>
            <a:ext cx="1457614" cy="378980"/>
          </a:xfrm>
          <a:prstGeom xmlns:a="http://schemas.openxmlformats.org/drawingml/2006/main" prst="roundRect">
            <a:avLst>
              <a:gd name="adj" fmla="val 10053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latent ×4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384，1/8，先验1token</a:t>
            </a:r>
          </a:p>
        </p:txBody>
      </p:sp>
      <p:sp>
        <p:nvSpPr>
          <p:cNvPr id="16" name="dec3">
            <a:extLst xmlns:a="http://schemas.openxmlformats.org/drawingml/2006/main">
              <a:ext uri="{FF2B5EF4-FFF2-40B4-BE49-F238E27FC236}">
                <a16:creationId xmlns:a16="http://schemas.microsoft.com/office/drawing/2014/main" id="{941FA211-C45C-4F4D-8A08-5A382230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943" y="4612866"/>
            <a:ext cx="1457614" cy="558752"/>
          </a:xfrm>
          <a:prstGeom xmlns:a="http://schemas.openxmlformats.org/drawingml/2006/main" prst="roundRect">
            <a:avLst>
              <a:gd name="adj" fmla="val 6819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上采样/跳接/1×1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decoder3 ×4，192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第二轮Z/P残差适配</a:t>
            </a:r>
          </a:p>
        </p:txBody>
      </p:sp>
      <p:sp>
        <p:nvSpPr>
          <p:cNvPr id="17" name="dec2">
            <a:extLst xmlns:a="http://schemas.openxmlformats.org/drawingml/2006/main">
              <a:ext uri="{FF2B5EF4-FFF2-40B4-BE49-F238E27FC236}">
                <a16:creationId xmlns:a16="http://schemas.microsoft.com/office/drawing/2014/main" id="{498DE7AF-6B37-40D8-888F-3690B59B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394" y="4612866"/>
            <a:ext cx="1457614" cy="558752"/>
          </a:xfrm>
          <a:prstGeom xmlns:a="http://schemas.openxmlformats.org/drawingml/2006/main" prst="roundRect">
            <a:avLst>
              <a:gd name="adj" fmla="val 6819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上采样/跳接/1×1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decoder2 ×4，96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第二轮Z/P残差适配</a:t>
            </a:r>
          </a:p>
        </p:txBody>
      </p:sp>
      <p:sp>
        <p:nvSpPr>
          <p:cNvPr id="18" name="dec1">
            <a:extLst xmlns:a="http://schemas.openxmlformats.org/drawingml/2006/main">
              <a:ext uri="{FF2B5EF4-FFF2-40B4-BE49-F238E27FC236}">
                <a16:creationId xmlns:a16="http://schemas.microsoft.com/office/drawing/2014/main" id="{DB4E9837-201F-41F1-BADE-23B50375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38" y="4612866"/>
            <a:ext cx="1457614" cy="558752"/>
          </a:xfrm>
          <a:prstGeom xmlns:a="http://schemas.openxmlformats.org/drawingml/2006/main" prst="roundRect">
            <a:avLst>
              <a:gd name="adj" fmla="val 6819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上采样/跳接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decoder1 ×3，96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TaF1输出：精炼之前</a:t>
            </a:r>
          </a:p>
        </p:txBody>
      </p:sp>
      <p:sp>
        <p:nvSpPr>
          <p:cNvPr id="19" name="re">
            <a:extLst xmlns:a="http://schemas.openxmlformats.org/drawingml/2006/main">
              <a:ext uri="{FF2B5EF4-FFF2-40B4-BE49-F238E27FC236}">
                <a16:creationId xmlns:a16="http://schemas.microsoft.com/office/drawing/2014/main" id="{13927788-8838-48C5-89EA-6E58BE39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883" y="4612866"/>
            <a:ext cx="1457614" cy="558752"/>
          </a:xfrm>
          <a:prstGeom xmlns:a="http://schemas.openxmlformats.org/drawingml/2006/main" prst="roundRect">
            <a:avLst>
              <a:gd name="adj" fmla="val 6819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精炼块×4，96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输出Conv3×3：96→3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加原RGB得到任务预测</a:t>
            </a:r>
          </a:p>
        </p:txBody>
      </p:sp>
      <p:sp>
        <p:nvSpPr>
          <p:cNvPr id="20" name="unused">
            <a:extLst xmlns:a="http://schemas.openxmlformats.org/drawingml/2006/main">
              <a:ext uri="{FF2B5EF4-FFF2-40B4-BE49-F238E27FC236}">
                <a16:creationId xmlns:a16="http://schemas.microsoft.com/office/drawing/2014/main" id="{C676E358-EADB-48AF-9CC9-184D2F0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801" y="4625013"/>
            <a:ext cx="1311852" cy="534458"/>
          </a:xfrm>
          <a:prstGeom xmlns:a="http://schemas.openxmlformats.org/drawingml/2006/main" prst="roundRect">
            <a:avLst>
              <a:gd name="adj" fmla="val 7129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889099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net_le真值教师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已实例化/冻结，当前不前向</a:t>
            </a:r>
          </a:p>
          <a:p xmlns:a="http://schemas.openxmlformats.org/drawingml/2006/main">
            <a:pPr algn="ctr">
              <a:def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9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配置12输入，不读当前GT</a:t>
            </a:r>
          </a:p>
        </p:txBody>
      </p:sp>
      <p:sp>
        <p:nvSpPr>
          <p:cNvPr id="37" name="BasicLayer：有先验且group&gt;1时先HIM跨注意力；之后L">
            <a:extLst xmlns:a="http://schemas.openxmlformats.org/drawingml/2006/main">
              <a:ext uri="{FF2B5EF4-FFF2-40B4-BE49-F238E27FC236}">
                <a16:creationId xmlns:a16="http://schemas.microsoft.com/office/drawing/2014/main" id="{EDE05271-9EBE-4B07-AEF8-463FB4B4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508" y="5587038"/>
            <a:ext cx="10949902" cy="121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BasicLayer：有先验且group&gt;1时先HIM跨注意力；之后LN+先验调制MDTA+残差、LN+先验调制门控FFN+残差。</a:t>
            </a:r>
          </a:p>
        </p:txBody>
      </p:sp>
      <p:sp>
        <p:nvSpPr>
          <p:cNvPr id="38" name="task特征F1/F2/F3 = decoder1/2/3输出（96/">
            <a:extLst xmlns:a="http://schemas.openxmlformats.org/drawingml/2006/main">
              <a:ext uri="{FF2B5EF4-FFF2-40B4-BE49-F238E27FC236}">
                <a16:creationId xmlns:a16="http://schemas.microsoft.com/office/drawing/2014/main" id="{346B2EE0-52D5-4350-9A2D-37191B1B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508" y="5766810"/>
            <a:ext cx="10949902" cy="121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task特征F1/F2/F3 = decoder1/2/3输出（96/96/192）。图中的编号是尺度编号，不是循环轮次。</a:t>
            </a:r>
          </a:p>
        </p:txBody>
      </p:sp>
      <p:sp>
        <p:nvSpPr>
          <p:cNvPr id="39" name="第二轮仅通过两个临时forward hook加入残差；finally移">
            <a:extLst xmlns:a="http://schemas.openxmlformats.org/drawingml/2006/main">
              <a:ext uri="{FF2B5EF4-FFF2-40B4-BE49-F238E27FC236}">
                <a16:creationId xmlns:a16="http://schemas.microsoft.com/office/drawing/2014/main" id="{230FACCA-71D2-4C76-B000-7695904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508" y="5956300"/>
            <a:ext cx="10949902" cy="121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0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第二轮仅通过两个临时forward hook加入残差；finally移除。先验参数冻结但历史候选训练时保留输入梯度。</a:t>
            </a:r>
          </a:p>
        </p:txBody>
      </p:sp>
    </p:spTree>
    <p:extLst>
      <p:ext uri="{BB962C8B-B14F-4D97-AF65-F5344CB8AC3E}">
        <p14:creationId xmlns:p14="http://schemas.microsoft.com/office/powerpoint/2010/main" val="21404224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A8B4C-57AA-4FF5-9C81-202EB088277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4083601" y="4350471"/>
            <a:ext cx="932575" cy="44174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F050F-64D3-4532-AD34-EEB543F9A2AE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046917" y="4043703"/>
            <a:ext cx="2699560" cy="107982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5C5F6-FF42-49D1-A693-581BD66180D6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046917" y="5098985"/>
            <a:ext cx="343580" cy="24541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E6E2A-AFE7-407B-80E0-1967D8DD8815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>
            <a:off x="8746477" y="4043703"/>
            <a:ext cx="0" cy="105528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5CC62-CAB4-4B6B-A73D-BF0340D8906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22375" y="4043703"/>
            <a:ext cx="368122" cy="105528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CF1E4-B6EE-4380-83E2-B0987110DCD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74687" y="4043703"/>
            <a:ext cx="171790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CB071-B69D-4C06-9CDC-5112908A81A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22375" y="4043703"/>
            <a:ext cx="539913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C2E30-0219-4375-89DE-66C4A31FB37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5016176" y="3356542"/>
            <a:ext cx="0" cy="38039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41F7F-F7EB-49A7-BB24-DD1207BA1B7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15479" y="4043703"/>
            <a:ext cx="294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5687D-CCF5-4AA7-AAA7-D00956AA8EC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028575" y="2369976"/>
            <a:ext cx="392664" cy="71661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A0274-D672-4A59-AB30-709766D3F5E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016176" y="2369976"/>
            <a:ext cx="0" cy="446654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1B073-4720-42D8-9540-82B45043571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6528" y="2369976"/>
            <a:ext cx="147249" cy="71661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29" name="结构附录C：跨轮反馈与需求Q">
            <a:extLst xmlns:a="http://schemas.openxmlformats.org/drawingml/2006/main">
              <a:ext uri="{FF2B5EF4-FFF2-40B4-BE49-F238E27FC236}">
                <a16:creationId xmlns:a16="http://schemas.microsoft.com/office/drawing/2014/main" id="{E6EF7720-1F12-4B9D-8095-95C2FD60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结构附录C：跨轮反馈与需求Q</a:t>
            </a:r>
          </a:p>
        </p:txBody>
      </p:sp>
      <p:sp>
        <p:nvSpPr>
          <p:cNvPr id="2" name="细节供问答；原尺寸可编辑SVG与逐模块CSV随汇报一起交付">
            <a:extLst xmlns:a="http://schemas.openxmlformats.org/drawingml/2006/main">
              <a:ext uri="{FF2B5EF4-FFF2-40B4-BE49-F238E27FC236}">
                <a16:creationId xmlns:a16="http://schemas.microsoft.com/office/drawing/2014/main" id="{20827D4E-20F0-4D7D-8BA9-F1F8140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细节供问答；原尺寸可编辑SVG与逐模块CSV随汇报一起交付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43F764D3-262A-4833-AB47-30C67428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8A791507-2790-4DE2-B793-FD7062E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f">
            <a:extLst xmlns:a="http://schemas.openxmlformats.org/drawingml/2006/main">
              <a:ext uri="{FF2B5EF4-FFF2-40B4-BE49-F238E27FC236}">
                <a16:creationId xmlns:a16="http://schemas.microsoft.com/office/drawing/2014/main" id="{9E71D40A-9CF1-4ACE-ABD9-F053F41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577" y="1987129"/>
            <a:ext cx="1717902" cy="382847"/>
          </a:xfrm>
          <a:prstGeom xmlns:a="http://schemas.openxmlformats.org/drawingml/2006/main" prst="roundRect">
            <a:avLst>
              <a:gd name="adj" fmla="val 99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第一轮F1/F2/F3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96/96/192→参考8/16/16</a:t>
            </a:r>
          </a:p>
        </p:txBody>
      </p:sp>
      <p:sp>
        <p:nvSpPr>
          <p:cNvPr id="6" name="p">
            <a:extLst xmlns:a="http://schemas.openxmlformats.org/drawingml/2006/main">
              <a:ext uri="{FF2B5EF4-FFF2-40B4-BE49-F238E27FC236}">
                <a16:creationId xmlns:a16="http://schemas.microsoft.com/office/drawing/2014/main" id="{F5EEE494-FC86-46F7-BB6A-E60F280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225" y="1987129"/>
            <a:ext cx="1717902" cy="382847"/>
          </a:xfrm>
          <a:prstGeom xmlns:a="http://schemas.openxmlformats.org/drawingml/2006/main" prst="roundRect">
            <a:avLst>
              <a:gd name="adj" fmla="val 99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第一轮P1/P2/P3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48/96/192→偏振参考各8</a:t>
            </a:r>
          </a:p>
        </p:txBody>
      </p:sp>
      <p:sp>
        <p:nvSpPr>
          <p:cNvPr id="7" name="obs">
            <a:extLst xmlns:a="http://schemas.openxmlformats.org/drawingml/2006/main">
              <a:ext uri="{FF2B5EF4-FFF2-40B4-BE49-F238E27FC236}">
                <a16:creationId xmlns:a16="http://schemas.microsoft.com/office/drawing/2014/main" id="{5496EC09-C521-44C9-848B-5E901B92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415" y="1987129"/>
            <a:ext cx="2159648" cy="382847"/>
          </a:xfrm>
          <a:prstGeom xmlns:a="http://schemas.openxmlformats.org/drawingml/2006/main" prst="roundRect">
            <a:avLst>
              <a:gd name="adj" fmla="val 99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I、T1、I−T1、原偏振摘要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C、1−C；未缩放观测可访问</a:t>
            </a:r>
          </a:p>
        </p:txBody>
      </p:sp>
      <p:sp>
        <p:nvSpPr>
          <p:cNvPr id="8" name="z">
            <a:extLst xmlns:a="http://schemas.openxmlformats.org/drawingml/2006/main">
              <a:ext uri="{FF2B5EF4-FFF2-40B4-BE49-F238E27FC236}">
                <a16:creationId xmlns:a16="http://schemas.microsoft.com/office/drawing/2014/main" id="{36BEE0D6-A029-4FAD-85E0-5064BEE6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777" y="2816630"/>
            <a:ext cx="4024798" cy="539912"/>
          </a:xfrm>
          <a:prstGeom xmlns:a="http://schemas.openxmlformats.org/drawingml/2006/main" prst="roundRect">
            <a:avLst>
              <a:gd name="adj" fmla="val 70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三级状态 Z1/Z2/Z3（各16通道）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Concat(32/40/40)→1×1→GELU→DW3×3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GELU→1×1→GELU</a:t>
            </a:r>
          </a:p>
        </p:txBody>
      </p:sp>
      <p:sp>
        <p:nvSpPr>
          <p:cNvPr id="9" name="q">
            <a:extLst xmlns:a="http://schemas.openxmlformats.org/drawingml/2006/main">
              <a:ext uri="{FF2B5EF4-FFF2-40B4-BE49-F238E27FC236}">
                <a16:creationId xmlns:a16="http://schemas.microsoft.com/office/drawing/2014/main" id="{319F292F-4B4E-4634-A310-AA1817EE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577" y="3736935"/>
            <a:ext cx="1717902" cy="613536"/>
          </a:xfrm>
          <a:prstGeom xmlns:a="http://schemas.openxmlformats.org/drawingml/2006/main" prst="roundRect">
            <a:avLst>
              <a:gd name="adj" fmla="val 621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修复需求 Q（直接观测输入）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I/T1/I−T1/偏振/b/C/F1投影8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24→Conv32→DW32→Conv1→sigmoid</a:t>
            </a:r>
          </a:p>
        </p:txBody>
      </p:sp>
      <p:sp>
        <p:nvSpPr>
          <p:cNvPr id="10" name="qi">
            <a:extLst xmlns:a="http://schemas.openxmlformats.org/drawingml/2006/main">
              <a:ext uri="{FF2B5EF4-FFF2-40B4-BE49-F238E27FC236}">
                <a16:creationId xmlns:a16="http://schemas.microsoft.com/office/drawing/2014/main" id="{9223F6ED-8CFE-4B89-81FC-BEF1146E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976" y="3736935"/>
            <a:ext cx="2012399" cy="613536"/>
          </a:xfrm>
          <a:prstGeom xmlns:a="http://schemas.openxmlformats.org/drawingml/2006/main" prst="roundRect">
            <a:avLst>
              <a:gd name="adj" fmla="val 621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Q注入三级状态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[qZ,(1−q)参考,q,C]→ResidualAdapter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Z更新，q停止梯度</a:t>
            </a:r>
          </a:p>
        </p:txBody>
      </p:sp>
      <p:sp>
        <p:nvSpPr>
          <p:cNvPr id="11" name="ep">
            <a:extLst xmlns:a="http://schemas.openxmlformats.org/drawingml/2006/main">
              <a:ext uri="{FF2B5EF4-FFF2-40B4-BE49-F238E27FC236}">
                <a16:creationId xmlns:a16="http://schemas.microsoft.com/office/drawing/2014/main" id="{7CEAE929-11BD-4862-86B5-71196F4E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288" y="3736935"/>
            <a:ext cx="2012399" cy="613536"/>
          </a:xfrm>
          <a:prstGeom xmlns:a="http://schemas.openxmlformats.org/drawingml/2006/main" prst="roundRect">
            <a:avLst>
              <a:gd name="adj" fmla="val 621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第二轮E的1/2、1/4适配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Z(16)→ResidualAdapter→96/192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加至增强器特征</a:t>
            </a:r>
          </a:p>
        </p:txBody>
      </p:sp>
      <p:sp>
        <p:nvSpPr>
          <p:cNvPr id="12" name="pc">
            <a:extLst xmlns:a="http://schemas.openxmlformats.org/drawingml/2006/main">
              <a:ext uri="{FF2B5EF4-FFF2-40B4-BE49-F238E27FC236}">
                <a16:creationId xmlns:a16="http://schemas.microsoft.com/office/drawing/2014/main" id="{D2E3D08A-359C-4344-B335-832048DB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477" y="3773747"/>
            <a:ext cx="1472487" cy="539912"/>
          </a:xfrm>
          <a:prstGeom xmlns:a="http://schemas.openxmlformats.org/drawingml/2006/main" prst="roundRect">
            <a:avLst>
              <a:gd name="adj" fmla="val 7057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第二轮偏振特征投影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P1/P2/P3→8/16/16</a:t>
            </a:r>
          </a:p>
        </p:txBody>
      </p:sp>
      <p:sp>
        <p:nvSpPr>
          <p:cNvPr id="13" name="dp">
            <a:extLst xmlns:a="http://schemas.openxmlformats.org/drawingml/2006/main">
              <a:ext uri="{FF2B5EF4-FFF2-40B4-BE49-F238E27FC236}">
                <a16:creationId xmlns:a16="http://schemas.microsoft.com/office/drawing/2014/main" id="{32F7AF1B-30FA-4DB4-999E-BAC6E9DA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497" y="4779946"/>
            <a:ext cx="2355980" cy="638078"/>
          </a:xfrm>
          <a:prstGeom xmlns:a="http://schemas.openxmlformats.org/drawingml/2006/main" prst="roundRect">
            <a:avLst>
              <a:gd name="adj" fmla="val 5971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第二轮任务解码适配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[任务投影16,C参考16,P16,Z16,C,1−C]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66→ResidualAdapter→96/192</a:t>
            </a:r>
          </a:p>
        </p:txBody>
      </p:sp>
      <p:sp>
        <p:nvSpPr>
          <p:cNvPr id="14" name="out">
            <a:extLst xmlns:a="http://schemas.openxmlformats.org/drawingml/2006/main">
              <a:ext uri="{FF2B5EF4-FFF2-40B4-BE49-F238E27FC236}">
                <a16:creationId xmlns:a16="http://schemas.microsoft.com/office/drawing/2014/main" id="{B1008A62-70AE-4DF7-8CFB-E4357763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284" y="4792217"/>
            <a:ext cx="3926633" cy="662619"/>
          </a:xfrm>
          <a:prstGeom xmlns:a="http://schemas.openxmlformats.org/drawingml/2006/main" prst="roundRect">
            <a:avLst>
              <a:gd name="adj" fmla="val 575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专用RGB修正头（59输入）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[任务16,Z16,C参考8,P8,I3,T1 3,D2−T1 3,C,1−C]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Conv1×1→Conv3×3→Conv3×3→0.25tanh</a:t>
            </a:r>
          </a:p>
          <a:p xmlns:a="http://schemas.openxmlformats.org/drawingml/2006/main">
            <a:pPr algn="ctr">
              <a:def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6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候选U=T1+Δ</a:t>
            </a:r>
          </a:p>
        </p:txBody>
      </p:sp>
      <p:sp>
        <p:nvSpPr>
          <p:cNvPr id="27" name="ResidualAdapter：1×1→GELU→DW3×3→GELU">
            <a:extLst xmlns:a="http://schemas.openxmlformats.org/drawingml/2006/main">
              <a:ext uri="{FF2B5EF4-FFF2-40B4-BE49-F238E27FC236}">
                <a16:creationId xmlns:a16="http://schemas.microsoft.com/office/drawing/2014/main" id="{D1F4100B-E5CE-4078-9667-C18B09E4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953" y="5810687"/>
            <a:ext cx="10947918" cy="1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57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57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7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ResidualAdapter：1×1→GELU→DW3×3→GELU→1×1→0.1tanh；输出层最初零初始化，此次继承已训练参数。</a:t>
            </a:r>
          </a:p>
        </p:txBody>
      </p:sp>
      <p:sp>
        <p:nvSpPr>
          <p:cNvPr id="28" name="Q的BCE只用训练GT局部误差代理；Q不是反射标注。候选损失不能反向教">
            <a:extLst xmlns:a="http://schemas.openxmlformats.org/drawingml/2006/main">
              <a:ext uri="{FF2B5EF4-FFF2-40B4-BE49-F238E27FC236}">
                <a16:creationId xmlns:a16="http://schemas.microsoft.com/office/drawing/2014/main" id="{AC387B8E-34A7-4B26-8688-4B5FD6B7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953" y="6021744"/>
            <a:ext cx="10947918" cy="1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57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57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7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Q的BCE只用训练GT局部误差代理；Q不是反射标注。候选损失不能反向教Q选择方向；当前全部冻结。</a:t>
            </a:r>
          </a:p>
        </p:txBody>
      </p:sp>
    </p:spTree>
    <p:extLst>
      <p:ext uri="{BB962C8B-B14F-4D97-AF65-F5344CB8AC3E}">
        <p14:creationId xmlns:p14="http://schemas.microsoft.com/office/powerpoint/2010/main" val="13070522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0AC6F-29B3-46EB-AB01-3940205DF90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243050" y="3807948"/>
            <a:ext cx="0" cy="60126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D432F-32B8-4EC1-8348-CDC06063AC2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249515" y="3807948"/>
            <a:ext cx="0" cy="601266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dot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CA480-3211-4899-BC97-7F2C02A6AB4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753" y="4716244"/>
            <a:ext cx="56288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2CA25-1C30-4D73-9A4A-ED3544A540F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54389" y="3436955"/>
            <a:ext cx="56288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C883B-C592-4C2E-BB92-FBD5AD4B068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753" y="3436955"/>
            <a:ext cx="56288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63545-8CE9-4AD6-ADDF-259AA266239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77444" y="2234424"/>
            <a:ext cx="614058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dot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DF630-0187-4887-93A8-B615F1BB045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8867" y="2234424"/>
            <a:ext cx="4093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24" name="结构附录D：质量与动作判断">
            <a:extLst xmlns:a="http://schemas.openxmlformats.org/drawingml/2006/main">
              <a:ext uri="{FF2B5EF4-FFF2-40B4-BE49-F238E27FC236}">
                <a16:creationId xmlns:a16="http://schemas.microsoft.com/office/drawing/2014/main" id="{927CB117-C8D9-461C-97E2-F183566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结构附录D：质量与动作判断</a:t>
            </a:r>
          </a:p>
        </p:txBody>
      </p:sp>
      <p:sp>
        <p:nvSpPr>
          <p:cNvPr id="2" name="细节供问答；原尺寸可编辑SVG与逐模块CSV随汇报一起交付">
            <a:extLst xmlns:a="http://schemas.openxmlformats.org/drawingml/2006/main">
              <a:ext uri="{FF2B5EF4-FFF2-40B4-BE49-F238E27FC236}">
                <a16:creationId xmlns:a16="http://schemas.microsoft.com/office/drawing/2014/main" id="{E1A0267F-8787-4664-9015-806E09F5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细节供问答；原尺寸可编辑SVG与逐模块CSV随汇报一起交付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E898BD44-22B7-45FB-ABB9-23C0088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CB59F1B1-90D5-47E8-90D5-4858C458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hinput">
            <a:extLst xmlns:a="http://schemas.openxmlformats.org/drawingml/2006/main">
              <a:ext uri="{FF2B5EF4-FFF2-40B4-BE49-F238E27FC236}">
                <a16:creationId xmlns:a16="http://schemas.microsoft.com/office/drawing/2014/main" id="{CB670A73-AAD7-4DB3-B43F-C53C503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662" y="1927394"/>
            <a:ext cx="2149205" cy="614059"/>
          </a:xfrm>
          <a:prstGeom xmlns:a="http://schemas.openxmlformats.org/drawingml/2006/main" prst="roundRect">
            <a:avLst>
              <a:gd name="adj" fmla="val 620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H输入：I / clamp(T1) / |I−T1|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原偏振摘要5 + 三尺度F各投影8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4×4池化/对齐，共38通道</a:t>
            </a:r>
          </a:p>
        </p:txBody>
      </p:sp>
      <p:sp>
        <p:nvSpPr>
          <p:cNvPr id="6" name="h">
            <a:extLst xmlns:a="http://schemas.openxmlformats.org/drawingml/2006/main">
              <a:ext uri="{FF2B5EF4-FFF2-40B4-BE49-F238E27FC236}">
                <a16:creationId xmlns:a16="http://schemas.microsoft.com/office/drawing/2014/main" id="{12B21A8F-F08D-4B4B-89F1-C2F4E5B5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239" y="1927394"/>
            <a:ext cx="2149205" cy="614059"/>
          </a:xfrm>
          <a:prstGeom xmlns:a="http://schemas.openxmlformats.org/drawingml/2006/main" prst="roundRect">
            <a:avLst>
              <a:gd name="adj" fmla="val 620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H：Conv38→32→32→1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GELU；b=0.001+softplus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C=exp(-b/τ)，C停止梯度</a:t>
            </a:r>
          </a:p>
        </p:txBody>
      </p:sp>
      <p:sp>
        <p:nvSpPr>
          <p:cNvPr id="7" name="hloss">
            <a:extLst xmlns:a="http://schemas.openxmlformats.org/drawingml/2006/main">
              <a:ext uri="{FF2B5EF4-FFF2-40B4-BE49-F238E27FC236}">
                <a16:creationId xmlns:a16="http://schemas.microsoft.com/office/drawing/2014/main" id="{6BD54C95-968C-4FD5-981A-C9DA9ED2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502" y="1927394"/>
            <a:ext cx="2149205" cy="614059"/>
          </a:xfrm>
          <a:prstGeom xmlns:a="http://schemas.openxmlformats.org/drawingml/2006/main" prst="roundRect">
            <a:avLst>
              <a:gd name="adj" fmla="val 620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历史H监督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局部clamp(T1)误差 e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L_H=mean(e/b+log b)</a:t>
            </a:r>
          </a:p>
        </p:txBody>
      </p:sp>
      <p:sp>
        <p:nvSpPr>
          <p:cNvPr id="8" name="gin">
            <a:extLst xmlns:a="http://schemas.openxmlformats.org/drawingml/2006/main">
              <a:ext uri="{FF2B5EF4-FFF2-40B4-BE49-F238E27FC236}">
                <a16:creationId xmlns:a16="http://schemas.microsoft.com/office/drawing/2014/main" id="{578151B7-1526-4D68-82B0-7154A66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833" y="3065961"/>
            <a:ext cx="2660920" cy="741987"/>
          </a:xfrm>
          <a:prstGeom xmlns:a="http://schemas.openxmlformats.org/drawingml/2006/main" prst="roundRect">
            <a:avLst>
              <a:gd name="adj" fmla="val 513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正式判断50通道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池化I/T1/U/Δ(12)+偏振(5)+b/C(2)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任务投影8+状态16+增量平方3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绝对增量3+抵消比例1；输入detach</a:t>
            </a:r>
          </a:p>
        </p:txBody>
      </p:sp>
      <p:sp>
        <p:nvSpPr>
          <p:cNvPr id="9" name="gate">
            <a:extLst xmlns:a="http://schemas.openxmlformats.org/drawingml/2006/main">
              <a:ext uri="{FF2B5EF4-FFF2-40B4-BE49-F238E27FC236}">
                <a16:creationId xmlns:a16="http://schemas.microsoft.com/office/drawing/2014/main" id="{2B50F2CF-66A1-4C0E-9990-0364A2B7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40" y="3065961"/>
            <a:ext cx="2609749" cy="741987"/>
          </a:xfrm>
          <a:prstGeom xmlns:a="http://schemas.openxmlformats.org/drawingml/2006/main" prst="roundRect">
            <a:avLst>
              <a:gd name="adj" fmla="val 513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动作判断器，15,627参数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Conv50→32，3×3 + GELU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DW3×3，32 + GELU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Conv1×1，32→3</a:t>
            </a:r>
          </a:p>
        </p:txBody>
      </p:sp>
      <p:sp>
        <p:nvSpPr>
          <p:cNvPr id="10" name="cost">
            <a:extLst xmlns:a="http://schemas.openxmlformats.org/drawingml/2006/main">
              <a:ext uri="{FF2B5EF4-FFF2-40B4-BE49-F238E27FC236}">
                <a16:creationId xmlns:a16="http://schemas.microsoft.com/office/drawing/2014/main" id="{483B06F7-A660-47BE-A2AA-4491D14E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76" y="3065961"/>
            <a:ext cx="2251548" cy="741987"/>
          </a:xfrm>
          <a:prstGeom xmlns:a="http://schemas.openxmlformats.org/drawingml/2006/main" prst="roundRect">
            <a:avLst>
              <a:gd name="adj" fmla="val 513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三非零动作预测成本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0.25 / 0.5 / 1（零动作固定0）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加训练偏差和安全门槛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04F8334A-03CB-4E27-9FF5-DD0B36F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833" y="4409214"/>
            <a:ext cx="2660920" cy="614059"/>
          </a:xfrm>
          <a:prstGeom xmlns:a="http://schemas.openxmlformats.org/drawingml/2006/main" prst="roundRect">
            <a:avLst>
              <a:gd name="adj" fmla="val 620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GT仅训练/核验标签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ΔE(a)=pool[(T1+aΔ−GT)²−(T1−GT)²]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95%训练分位归一成本</a:t>
            </a:r>
          </a:p>
        </p:txBody>
      </p:sp>
      <p:sp>
        <p:nvSpPr>
          <p:cNvPr id="12" name="loss">
            <a:extLst xmlns:a="http://schemas.openxmlformats.org/drawingml/2006/main">
              <a:ext uri="{FF2B5EF4-FFF2-40B4-BE49-F238E27FC236}">
                <a16:creationId xmlns:a16="http://schemas.microsoft.com/office/drawing/2014/main" id="{9421F9F7-5670-474E-96C0-FD8CD391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40" y="4409214"/>
            <a:ext cx="2609749" cy="614059"/>
          </a:xfrm>
          <a:prstGeom xmlns:a="http://schemas.openxmlformats.org/drawingml/2006/main" prst="roundRect">
            <a:avLst>
              <a:gd name="adj" fmla="val 620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本次唯一训练目标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SmoothL1(预测,实际成本)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+ 0.1软动作期望实际成本</a:t>
            </a:r>
          </a:p>
        </p:txBody>
      </p:sp>
      <p:sp>
        <p:nvSpPr>
          <p:cNvPr id="13" name="mask">
            <a:extLst xmlns:a="http://schemas.openxmlformats.org/drawingml/2006/main">
              <a:ext uri="{FF2B5EF4-FFF2-40B4-BE49-F238E27FC236}">
                <a16:creationId xmlns:a16="http://schemas.microsoft.com/office/drawing/2014/main" id="{C99F7682-D965-4C5D-9B01-AAF03E1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76" y="4409214"/>
            <a:ext cx="2251548" cy="614059"/>
          </a:xfrm>
          <a:prstGeom xmlns:a="http://schemas.openxmlformats.org/drawingml/2006/main" prst="roundRect">
            <a:avLst>
              <a:gd name="adj" fmla="val 6205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26748B"/>
            </a:solidFill>
          </a:ln>
        </p:spPr>
        <p:txBody>
          <a:bodyPr xmlns:a="http://schemas.openxmlformats.org/drawingml/2006/main" wrap="square" lIns="9525" tIns="9525" rIns="9525" bIns="9525" anchor="ctr"/>
          <a:lstStyle xmlns:a="http://schemas.openxmlformats.org/drawingml/2006/main">
            <a:def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argmin → 4×4动作网格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最近邻到原图，M停止梯度</a:t>
            </a:r>
          </a:p>
          <a:p xmlns:a="http://schemas.openxmlformats.org/drawingml/2006/main">
            <a:pPr algn="ctr">
              <a:def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5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T2=where(M=0,T1,T1+MΔ)</a:t>
            </a:r>
          </a:p>
        </p:txBody>
      </p:sp>
      <p:sp>
        <p:nvSpPr>
          <p:cNvPr id="21" name="偏差/安全只用训练内部237/423图角色；候选和Q固定，判断1140">
            <a:extLst xmlns:a="http://schemas.openxmlformats.org/drawingml/2006/main">
              <a:ext uri="{FF2B5EF4-FFF2-40B4-BE49-F238E27FC236}">
                <a16:creationId xmlns:a16="http://schemas.microsoft.com/office/drawing/2014/main" id="{0ED09DB6-A7BE-4421-AD60-F076E766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90" y="5447996"/>
            <a:ext cx="10939564" cy="127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偏差/安全只用训练内部237/423图角色；候选和Q固定，判断1140图3000步。四角色为来源见过的场景，不是未见确认数据。</a:t>
            </a:r>
          </a:p>
        </p:txBody>
      </p:sp>
      <p:sp>
        <p:nvSpPr>
          <p:cNvPr id="22" name="安全校准要求平均MSE不增、有害接受≤20%，选最大覆盖；本次最终门槛">
            <a:extLst xmlns:a="http://schemas.openxmlformats.org/drawingml/2006/main">
              <a:ext uri="{FF2B5EF4-FFF2-40B4-BE49-F238E27FC236}">
                <a16:creationId xmlns:a16="http://schemas.microsoft.com/office/drawing/2014/main" id="{66BF1117-DDA5-4C3C-8BD2-11E5858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90" y="5678268"/>
            <a:ext cx="10939564" cy="127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安全校准要求平均MSE不增、有害接受≤20%，选最大覆盖；本次最终门槛1.6：全部1060图M=0。GT理想选择不能部署。</a:t>
            </a:r>
          </a:p>
        </p:txBody>
      </p:sp>
      <p:sp>
        <p:nvSpPr>
          <p:cNvPr id="23" name="重要语义：C是质量分数，Q是修复需求代理，动作成本才判断给定修正的收益">
            <a:extLst xmlns:a="http://schemas.openxmlformats.org/drawingml/2006/main">
              <a:ext uri="{FF2B5EF4-FFF2-40B4-BE49-F238E27FC236}">
                <a16:creationId xmlns:a16="http://schemas.microsoft.com/office/drawing/2014/main" id="{8A9A6B3B-A092-4C36-B2AE-0821B93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90" y="5908540"/>
            <a:ext cx="10939564" cy="127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5" b="0">
                <a:solidFill>
                  <a:srgbClr val="586676"/>
                </a:solidFill>
                <a:latin typeface="Microsoft YaHei"/>
                <a:ea typeface="Microsoft YaHei"/>
                <a:cs typeface="Microsoft YaHei"/>
              </a:rPr>
              <a:t>重要语义：C是质量分数，Q是修复需求代理，动作成本才判断给定修正的收益。三种量互不等价。</a:t>
            </a:r>
          </a:p>
        </p:txBody>
      </p:sp>
    </p:spTree>
    <p:extLst>
      <p:ext uri="{BB962C8B-B14F-4D97-AF65-F5344CB8AC3E}">
        <p14:creationId xmlns:p14="http://schemas.microsoft.com/office/powerpoint/2010/main" val="9823326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参考文献与结论边界">
            <a:extLst xmlns:a="http://schemas.openxmlformats.org/drawingml/2006/main">
              <a:ext uri="{FF2B5EF4-FFF2-40B4-BE49-F238E27FC236}">
                <a16:creationId xmlns:a16="http://schemas.microsoft.com/office/drawing/2014/main" id="{E77211B6-B063-4F30-8316-B972452C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参考文献与结论边界</a:t>
            </a:r>
          </a:p>
        </p:txBody>
      </p:sp>
      <p:sp>
        <p:nvSpPr>
          <p:cNvPr id="2" name="文献支持设计动机，当前方法是否有效由自己的实验决定">
            <a:extLst xmlns:a="http://schemas.openxmlformats.org/drawingml/2006/main">
              <a:ext uri="{FF2B5EF4-FFF2-40B4-BE49-F238E27FC236}">
                <a16:creationId xmlns:a16="http://schemas.microsoft.com/office/drawing/2014/main" id="{E1A56BB0-3F96-4F1D-A79D-B4253E78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文献支持设计动机，当前方法是否有效由自己的实验决定</a:t>
            </a:r>
          </a:p>
        </p:txBody>
      </p:sp>
      <p:sp>
        <p:nvSpPr>
          <p:cNvPr id="3" name="R2P · 置信与循环探索 · 2026.10.13">
            <a:extLst xmlns:a="http://schemas.openxmlformats.org/drawingml/2006/main">
              <a:ext uri="{FF2B5EF4-FFF2-40B4-BE49-F238E27FC236}">
                <a16:creationId xmlns:a16="http://schemas.microsoft.com/office/drawing/2014/main" id="{EFF20BD9-AEEA-45B8-A04F-F171DC84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R2P · 置信与循环探索 · 2026.10.13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7D40D67E-CF00-4FC4-B0B6-774BA27E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PIDSR · CVPR 2025">
            <a:extLst xmlns:a="http://schemas.openxmlformats.org/drawingml/2006/main">
              <a:ext uri="{FF2B5EF4-FFF2-40B4-BE49-F238E27FC236}">
                <a16:creationId xmlns:a16="http://schemas.microsoft.com/office/drawing/2014/main" id="{8BC49D39-23CE-4FFE-902E-9A020FDB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287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PIDSR · CVPR 2025</a:t>
            </a:r>
          </a:p>
        </p:txBody>
      </p:sp>
      <p:sp>
        <p:nvSpPr>
          <p:cNvPr id="6" name="同尺度偏振恢复主干来源；本项目未使用原SR分支">
            <a:extLst xmlns:a="http://schemas.openxmlformats.org/drawingml/2006/main">
              <a:ext uri="{FF2B5EF4-FFF2-40B4-BE49-F238E27FC236}">
                <a16:creationId xmlns:a16="http://schemas.microsoft.com/office/drawing/2014/main" id="{66121A72-E6AF-47FB-A51D-62B6C1C0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287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同尺度偏振恢复主干来源；本项目未使用原SR分支</a:t>
            </a:r>
          </a:p>
        </p:txBody>
      </p:sp>
      <p:sp>
        <p:nvSpPr>
          <p:cNvPr id="7" name="PolarFree · CVPR 2025">
            <a:extLst xmlns:a="http://schemas.openxmlformats.org/drawingml/2006/main">
              <a:ext uri="{FF2B5EF4-FFF2-40B4-BE49-F238E27FC236}">
                <a16:creationId xmlns:a16="http://schemas.microsoft.com/office/drawing/2014/main" id="{C5E45212-9281-4460-9F7E-AE2C5B0C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PolarFree · CVPR 2025</a:t>
            </a:r>
          </a:p>
        </p:txBody>
      </p:sp>
      <p:sp>
        <p:nvSpPr>
          <p:cNvPr id="8" name="偏振条件、潜变量扩散和任务恢复主网来源">
            <a:extLst xmlns:a="http://schemas.openxmlformats.org/drawingml/2006/main">
              <a:ext uri="{FF2B5EF4-FFF2-40B4-BE49-F238E27FC236}">
                <a16:creationId xmlns:a16="http://schemas.microsoft.com/office/drawing/2014/main" id="{A7BF9233-014A-4FE9-91CD-D2A5CD82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偏振条件、潜变量扩散和任务恢复主网来源</a:t>
            </a:r>
          </a:p>
        </p:txBody>
      </p:sp>
      <p:sp>
        <p:nvSpPr>
          <p:cNvPr id="9" name="MPRNet · CVPR 2021">
            <a:extLst xmlns:a="http://schemas.openxmlformats.org/drawingml/2006/main">
              <a:ext uri="{FF2B5EF4-FFF2-40B4-BE49-F238E27FC236}">
                <a16:creationId xmlns:a16="http://schemas.microsoft.com/office/drawing/2014/main" id="{9510A2AE-7542-480C-B6D3-5B3E5BC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146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MPRNet · CVPR 2021</a:t>
            </a:r>
          </a:p>
        </p:txBody>
      </p:sp>
      <p:sp>
        <p:nvSpPr>
          <p:cNvPr id="10" name="多阶段监督、跨阶段特征传递的设计动机">
            <a:extLst xmlns:a="http://schemas.openxmlformats.org/drawingml/2006/main">
              <a:ext uri="{FF2B5EF4-FFF2-40B4-BE49-F238E27FC236}">
                <a16:creationId xmlns:a16="http://schemas.microsoft.com/office/drawing/2014/main" id="{6A3762B1-742E-48D9-B449-E4E0698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多阶段监督、跨阶段特征传递的设计动机</a:t>
            </a:r>
          </a:p>
        </p:txBody>
      </p:sp>
      <p:sp>
        <p:nvSpPr>
          <p:cNvPr id="11" name="Kendall &amp; Gal · NeurIPS 2017">
            <a:extLst xmlns:a="http://schemas.openxmlformats.org/drawingml/2006/main">
              <a:ext uri="{FF2B5EF4-FFF2-40B4-BE49-F238E27FC236}">
                <a16:creationId xmlns:a16="http://schemas.microsoft.com/office/drawing/2014/main" id="{16156B06-54D0-4922-AACA-6AA8B92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Kendall &amp; Gal · NeurIPS 2017</a:t>
            </a:r>
          </a:p>
        </p:txBody>
      </p:sp>
      <p:sp>
        <p:nvSpPr>
          <p:cNvPr id="12" name="误差尺度与不确定性语义需明确">
            <a:extLst xmlns:a="http://schemas.openxmlformats.org/drawingml/2006/main">
              <a:ext uri="{FF2B5EF4-FFF2-40B4-BE49-F238E27FC236}">
                <a16:creationId xmlns:a16="http://schemas.microsoft.com/office/drawing/2014/main" id="{45F7CDD4-B47D-4790-B916-D2DBD144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误差尺度与不确定性语义需明确</a:t>
            </a:r>
          </a:p>
        </p:txBody>
      </p:sp>
      <p:sp>
        <p:nvSpPr>
          <p:cNvPr id="13" name="SelectiveNet · ICML 2019">
            <a:extLst xmlns:a="http://schemas.openxmlformats.org/drawingml/2006/main">
              <a:ext uri="{FF2B5EF4-FFF2-40B4-BE49-F238E27FC236}">
                <a16:creationId xmlns:a16="http://schemas.microsoft.com/office/drawing/2014/main" id="{A78F7DCE-6B11-48C2-9F44-2879C738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005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748B"/>
                </a:solidFill>
                <a:latin typeface="Microsoft YaHei"/>
                <a:ea typeface="Microsoft YaHei"/>
                <a:cs typeface="Microsoft YaHei"/>
              </a:rPr>
              <a:t>SelectiveNet · ICML 2019</a:t>
            </a:r>
          </a:p>
        </p:txBody>
      </p:sp>
      <p:sp>
        <p:nvSpPr>
          <p:cNvPr id="14" name="风险和覆盖共同报告，零覆盖不能作为有效纠错">
            <a:extLst xmlns:a="http://schemas.openxmlformats.org/drawingml/2006/main">
              <a:ext uri="{FF2B5EF4-FFF2-40B4-BE49-F238E27FC236}">
                <a16:creationId xmlns:a16="http://schemas.microsoft.com/office/drawing/2014/main" id="{BF266319-33D7-4D8F-8C9D-7ED1E80A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005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4E"/>
                </a:solidFill>
                <a:latin typeface="Microsoft YaHei"/>
                <a:ea typeface="Microsoft YaHei"/>
                <a:cs typeface="Microsoft YaHei"/>
              </a:rPr>
              <a:t>风险和覆盖共同报告，零覆盖不能作为有效纠错</a:t>
            </a:r>
          </a:p>
        </p:txBody>
      </p:sp>
      <p:sp>
        <p:nvSpPr>
          <p:cNvPr id="15" name="单seed、缺匹配续训对照、历史测试探索：当前结论保持探索性质">
            <a:extLst xmlns:a="http://schemas.openxmlformats.org/drawingml/2006/main">
              <a:ext uri="{FF2B5EF4-FFF2-40B4-BE49-F238E27FC236}">
                <a16:creationId xmlns:a16="http://schemas.microsoft.com/office/drawing/2014/main" id="{849BABBE-64A0-4714-909A-8398CBA7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单seed、缺匹配续训对照、历史测试探索：当前结论保持探索性质</a:t>
            </a:r>
          </a:p>
        </p:txBody>
      </p:sp>
    </p:spTree>
    <p:extLst>
      <p:ext uri="{BB962C8B-B14F-4D97-AF65-F5344CB8AC3E}">
        <p14:creationId xmlns:p14="http://schemas.microsoft.com/office/powerpoint/2010/main" val="162200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2026-10-13T02:20:01.9630000Z</dcterms:created>
  <dcterms:modified xsi:type="dcterms:W3CDTF">2026-10-13T02:20:01.9630000Z</dcterms:modified>
</coreProperties>
</file>